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Outfit ExtraBold"/>
      <p:regular r:id="rId201314"/>
    </p:embeddedFont>
    <p:embeddedFont>
      <p:font typeface="Arimo"/>
      <p:regular r:id="rId201315"/>
    </p:embeddedFont>
    <p:embeddedFont>
      <p:font typeface="Arim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2016696"/>
            <a:ext cx="4630341"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Multi Agentic Energy Trading</a:t>
            </a:r>
            <a:endParaRPr lang="en-US" sz="2400" dirty="0"/>
          </a:p>
        </p:txBody>
      </p:sp>
      <p:sp>
        <p:nvSpPr>
          <p:cNvPr id="4" name="Text 1"/>
          <p:cNvSpPr/>
          <p:nvPr/>
        </p:nvSpPr>
        <p:spPr>
          <a:xfrm>
            <a:off x="496119" y="2590279"/>
            <a:ext cx="4722763" cy="536451"/>
          </a:xfrm>
          <a:prstGeom prst="rect">
            <a:avLst/>
          </a:prstGeom>
          <a:noFill/>
          <a:ln/>
        </p:spPr>
        <p:txBody>
          <a:bodyPr wrap="square" lIns="0" tIns="0" rIns="0" bIns="0" rtlCol="0" anchor="t"/>
          <a:lstStyle/>
          <a:p>
            <a:pPr algn="l" indent="0" marL="0">
              <a:lnSpc>
                <a:spcPct val="133000"/>
              </a:lnSpc>
              <a:spcAft>
                <a:spcPts val="1050"/>
              </a:spcAft>
              <a:buNone/>
            </a:pPr>
            <a:r>
              <a:rPr lang="en-US" sz="950" dirty="0">
                <a:solidFill>
                  <a:srgbClr val="2A2742"/>
                </a:solidFill>
                <a:latin typeface="Arimo" pitchFamily="34" charset="0"/>
                <a:ea typeface="Arimo" pitchFamily="34" charset="-122"/>
                <a:cs typeface="Arimo" pitchFamily="34" charset="-120"/>
              </a:rPr>
              <a:t>Team: Abhiraj · Chethana SB · Ashna Satrasala.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594991"/>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Problem Statement — Why this matters</a:t>
            </a:r>
            <a:endParaRPr lang="en-US" sz="2400" dirty="0"/>
          </a:p>
        </p:txBody>
      </p:sp>
      <p:sp>
        <p:nvSpPr>
          <p:cNvPr id="4" name="Text 1"/>
          <p:cNvSpPr/>
          <p:nvPr/>
        </p:nvSpPr>
        <p:spPr>
          <a:xfrm>
            <a:off x="496119" y="2556123"/>
            <a:ext cx="472276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By end-2025 India reached ~20.8 GW rooftop solar, yet grid operators discarded an estimated 2.3 TWh of solar while paying ~₹6,000 crore in must‑run compensation. The issue is not lack of demand but the absence of a direct, low‑latency mechanism for neighbours to trade surplus energy. Traditional cloud auctions and public blockchains fail to meet residential latency, privacy and scalability requirements.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222102"/>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Solution Overview</a:t>
            </a:r>
            <a:endParaRPr lang="en-US" sz="2400" dirty="0"/>
          </a:p>
        </p:txBody>
      </p:sp>
      <p:sp>
        <p:nvSpPr>
          <p:cNvPr id="3" name="Text 1"/>
          <p:cNvSpPr/>
          <p:nvPr/>
        </p:nvSpPr>
        <p:spPr>
          <a:xfrm>
            <a:off x="496119" y="1857673"/>
            <a:ext cx="8151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We propose a complete local-edge energy trading platform where autonomous agents negotiate real‑time prices, satellite‑informed forecasts run via federated learning to preserve privacy, grid feasibility is validated locally, and settlements are recorded on a dual‑tier local blockchain. Key results: 20% reduction in wasted solar, 22.5% cluster efficiency improvement, low‑latency trading, privacy‑preserving forecasts, and secure local settlements.</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791048"/>
            <a:ext cx="310083" cy="310083"/>
          </a:xfrm>
          <a:prstGeom prst="rect">
            <a:avLst/>
          </a:prstGeom>
        </p:spPr>
      </p:pic>
      <p:sp>
        <p:nvSpPr>
          <p:cNvPr id="5" name="Text 2"/>
          <p:cNvSpPr/>
          <p:nvPr/>
        </p:nvSpPr>
        <p:spPr>
          <a:xfrm>
            <a:off x="496119" y="325613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Low Latency</a:t>
            </a:r>
            <a:endParaRPr lang="en-US" sz="1200" dirty="0"/>
          </a:p>
        </p:txBody>
      </p:sp>
      <p:sp>
        <p:nvSpPr>
          <p:cNvPr id="6" name="Text 3"/>
          <p:cNvSpPr/>
          <p:nvPr/>
        </p:nvSpPr>
        <p:spPr>
          <a:xfrm>
            <a:off x="496119" y="3524399"/>
            <a:ext cx="261386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Local negotiation and communication minimize delays for 15‑minute interval trading.</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791048"/>
            <a:ext cx="310083" cy="310083"/>
          </a:xfrm>
          <a:prstGeom prst="rect">
            <a:avLst/>
          </a:prstGeom>
        </p:spPr>
      </p:pic>
      <p:sp>
        <p:nvSpPr>
          <p:cNvPr id="8" name="Text 4"/>
          <p:cNvSpPr/>
          <p:nvPr/>
        </p:nvSpPr>
        <p:spPr>
          <a:xfrm>
            <a:off x="3264991" y="325613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Privacy</a:t>
            </a:r>
            <a:endParaRPr lang="en-US" sz="1200" dirty="0"/>
          </a:p>
        </p:txBody>
      </p:sp>
      <p:sp>
        <p:nvSpPr>
          <p:cNvPr id="9" name="Text 5"/>
          <p:cNvSpPr/>
          <p:nvPr/>
        </p:nvSpPr>
        <p:spPr>
          <a:xfrm>
            <a:off x="3264991" y="3524399"/>
            <a:ext cx="261394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Federated Learning trains models without sending raw household data offsite.</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791048"/>
            <a:ext cx="310083" cy="310083"/>
          </a:xfrm>
          <a:prstGeom prst="rect">
            <a:avLst/>
          </a:prstGeom>
        </p:spPr>
      </p:pic>
      <p:sp>
        <p:nvSpPr>
          <p:cNvPr id="11" name="Text 6"/>
          <p:cNvSpPr/>
          <p:nvPr/>
        </p:nvSpPr>
        <p:spPr>
          <a:xfrm>
            <a:off x="6033939" y="325613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Secure Settlements</a:t>
            </a:r>
            <a:endParaRPr lang="en-US" sz="1200" dirty="0"/>
          </a:p>
        </p:txBody>
      </p:sp>
      <p:sp>
        <p:nvSpPr>
          <p:cNvPr id="12" name="Text 7"/>
          <p:cNvSpPr/>
          <p:nvPr/>
        </p:nvSpPr>
        <p:spPr>
          <a:xfrm>
            <a:off x="6033939" y="3524399"/>
            <a:ext cx="261394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Local Ethereum (Hardhat) nodes provide immutable transaction records for trust.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888034"/>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Technology Stack</a:t>
            </a:r>
            <a:endParaRPr lang="en-US" sz="2400" dirty="0"/>
          </a:p>
        </p:txBody>
      </p:sp>
      <p:sp>
        <p:nvSpPr>
          <p:cNvPr id="4" name="Text 1"/>
          <p:cNvSpPr/>
          <p:nvPr/>
        </p:nvSpPr>
        <p:spPr>
          <a:xfrm>
            <a:off x="3925119" y="2461617"/>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The system integrates: Edge Computing, Multi‑Agent AI, Federated Learning, Blockchain, IoT energy monitoring, Power‑system optimization, Satellite data analytics (Sentinel‑2), and Real‑time communication. These layers work together to forecast, negotiate, validate and settle trades within a local cluster.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1256184"/>
            <a:ext cx="7406208"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Hardware &amp; System Architecture — Components</a:t>
            </a:r>
            <a:endParaRPr lang="en-US" sz="2400" dirty="0"/>
          </a:p>
        </p:txBody>
      </p:sp>
      <p:sp>
        <p:nvSpPr>
          <p:cNvPr id="3" name="Text 1"/>
          <p:cNvSpPr/>
          <p:nvPr/>
        </p:nvSpPr>
        <p:spPr>
          <a:xfrm>
            <a:off x="496119" y="1891754"/>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Architecture consists of: (1) Cluster Server (shared edge), (2) Household Nodes, (3) Local Communication Network, (4) Satellite Data Integration Layer, (5) Blockchain Settlement Layer. The Cluster Server hosts forecasting, negotiation, validation and blockchain services while household nodes provide sensing, control and local actuation.</a:t>
            </a:r>
            <a:endParaRPr lang="en-US" sz="950" dirty="0"/>
          </a:p>
        </p:txBody>
      </p:sp>
      <p:pic>
        <p:nvPicPr>
          <p:cNvPr id="4" name="Image 0" descr="preencoded.png">    </p:cNvPr>
          <p:cNvPicPr>
            <a:picLocks noChangeAspect="1"/>
          </p:cNvPicPr>
          <p:nvPr/>
        </p:nvPicPr>
        <p:blipFill>
          <a:blip r:embed="rId1"/>
          <a:stretch>
            <a:fillRect/>
          </a:stretch>
        </p:blipFill>
        <p:spPr>
          <a:xfrm>
            <a:off x="496119" y="2626668"/>
            <a:ext cx="757982" cy="947440"/>
          </a:xfrm>
          <a:prstGeom prst="rect">
            <a:avLst/>
          </a:prstGeom>
        </p:spPr>
      </p:pic>
      <p:sp>
        <p:nvSpPr>
          <p:cNvPr id="5" name="Text 2"/>
          <p:cNvSpPr/>
          <p:nvPr/>
        </p:nvSpPr>
        <p:spPr>
          <a:xfrm>
            <a:off x="1409105" y="262666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Cluster Server</a:t>
            </a:r>
            <a:endParaRPr lang="en-US" sz="1200" dirty="0"/>
          </a:p>
        </p:txBody>
      </p:sp>
      <p:sp>
        <p:nvSpPr>
          <p:cNvPr id="6" name="Text 3"/>
          <p:cNvSpPr/>
          <p:nvPr/>
        </p:nvSpPr>
        <p:spPr>
          <a:xfrm>
            <a:off x="1409105" y="2894930"/>
            <a:ext cx="170088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Shared edge system hosting multi‑agent engine, FL server, OPF engine, blockchain node and real‑time comms.</a:t>
            </a:r>
            <a:endParaRPr lang="en-US" sz="950" dirty="0"/>
          </a:p>
        </p:txBody>
      </p:sp>
      <p:pic>
        <p:nvPicPr>
          <p:cNvPr id="7" name="Image 1" descr="preencoded.png">    </p:cNvPr>
          <p:cNvPicPr>
            <a:picLocks noChangeAspect="1"/>
          </p:cNvPicPr>
          <p:nvPr/>
        </p:nvPicPr>
        <p:blipFill>
          <a:blip r:embed="rId2"/>
          <a:stretch>
            <a:fillRect/>
          </a:stretch>
        </p:blipFill>
        <p:spPr>
          <a:xfrm>
            <a:off x="3264991" y="2626668"/>
            <a:ext cx="757982" cy="947440"/>
          </a:xfrm>
          <a:prstGeom prst="rect">
            <a:avLst/>
          </a:prstGeom>
        </p:spPr>
      </p:pic>
      <p:sp>
        <p:nvSpPr>
          <p:cNvPr id="8" name="Text 4"/>
          <p:cNvSpPr/>
          <p:nvPr/>
        </p:nvSpPr>
        <p:spPr>
          <a:xfrm>
            <a:off x="4177978" y="262666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Household Node</a:t>
            </a:r>
            <a:endParaRPr lang="en-US" sz="1200" dirty="0"/>
          </a:p>
        </p:txBody>
      </p:sp>
      <p:sp>
        <p:nvSpPr>
          <p:cNvPr id="9" name="Text 5"/>
          <p:cNvSpPr/>
          <p:nvPr/>
        </p:nvSpPr>
        <p:spPr>
          <a:xfrm>
            <a:off x="4177978" y="2894930"/>
            <a:ext cx="170095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ESP32 microcontroller coordinates local sensors, relays and communicates with the cluster server.</a:t>
            </a:r>
            <a:endParaRPr lang="en-US" sz="950" dirty="0"/>
          </a:p>
        </p:txBody>
      </p:sp>
      <p:pic>
        <p:nvPicPr>
          <p:cNvPr id="10" name="Image 2" descr="preencoded.png">    </p:cNvPr>
          <p:cNvPicPr>
            <a:picLocks noChangeAspect="1"/>
          </p:cNvPicPr>
          <p:nvPr/>
        </p:nvPicPr>
        <p:blipFill>
          <a:blip r:embed="rId3"/>
          <a:stretch>
            <a:fillRect/>
          </a:stretch>
        </p:blipFill>
        <p:spPr>
          <a:xfrm>
            <a:off x="6033939" y="2626668"/>
            <a:ext cx="757982" cy="947440"/>
          </a:xfrm>
          <a:prstGeom prst="rect">
            <a:avLst/>
          </a:prstGeom>
        </p:spPr>
      </p:pic>
      <p:sp>
        <p:nvSpPr>
          <p:cNvPr id="11" name="Text 6"/>
          <p:cNvSpPr/>
          <p:nvPr/>
        </p:nvSpPr>
        <p:spPr>
          <a:xfrm>
            <a:off x="6946925" y="262666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Local Network</a:t>
            </a:r>
            <a:endParaRPr lang="en-US" sz="1200" dirty="0"/>
          </a:p>
        </p:txBody>
      </p:sp>
      <p:sp>
        <p:nvSpPr>
          <p:cNvPr id="12" name="Text 7"/>
          <p:cNvSpPr/>
          <p:nvPr/>
        </p:nvSpPr>
        <p:spPr>
          <a:xfrm>
            <a:off x="6946925" y="2894930"/>
            <a:ext cx="170095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TP‑Link EAP225 forms the LAN for low‑latency, internet‑independent communication across the cluster.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874663"/>
            <a:ext cx="5347246"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Cluster Server — Internal Modules</a:t>
            </a:r>
            <a:endParaRPr lang="en-US" sz="2400" dirty="0"/>
          </a:p>
        </p:txBody>
      </p:sp>
      <p:sp>
        <p:nvSpPr>
          <p:cNvPr id="3" name="Shape 1"/>
          <p:cNvSpPr/>
          <p:nvPr/>
        </p:nvSpPr>
        <p:spPr>
          <a:xfrm>
            <a:off x="496119" y="1510233"/>
            <a:ext cx="1944960" cy="1711896"/>
          </a:xfrm>
          <a:prstGeom prst="roundRect">
            <a:avLst>
              <a:gd name="adj" fmla="val 3043"/>
            </a:avLst>
          </a:prstGeom>
          <a:solidFill>
            <a:srgbClr val="E9E6FA"/>
          </a:solidFill>
          <a:ln w="4763">
            <a:solidFill>
              <a:srgbClr val="BDB8DF"/>
            </a:solidFill>
            <a:prstDash val="solid"/>
          </a:ln>
        </p:spPr>
      </p:sp>
      <p:sp>
        <p:nvSpPr>
          <p:cNvPr id="4" name="Text 2"/>
          <p:cNvSpPr/>
          <p:nvPr/>
        </p:nvSpPr>
        <p:spPr>
          <a:xfrm>
            <a:off x="624855" y="1638970"/>
            <a:ext cx="157534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Multi‑Agent AI Engine</a:t>
            </a:r>
            <a:endParaRPr lang="en-US" sz="1200" dirty="0"/>
          </a:p>
        </p:txBody>
      </p:sp>
      <p:sp>
        <p:nvSpPr>
          <p:cNvPr id="5" name="Text 3"/>
          <p:cNvSpPr/>
          <p:nvPr/>
        </p:nvSpPr>
        <p:spPr>
          <a:xfrm>
            <a:off x="624855" y="1907232"/>
            <a:ext cx="168748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Creates an autonomous agent per household to negotiate trades, set prices and optimise allocations across the cluster in real time.</a:t>
            </a:r>
            <a:endParaRPr lang="en-US" sz="950" dirty="0"/>
          </a:p>
        </p:txBody>
      </p:sp>
      <p:sp>
        <p:nvSpPr>
          <p:cNvPr id="6" name="Shape 4"/>
          <p:cNvSpPr/>
          <p:nvPr/>
        </p:nvSpPr>
        <p:spPr>
          <a:xfrm>
            <a:off x="2565053" y="1510233"/>
            <a:ext cx="1944960" cy="1711896"/>
          </a:xfrm>
          <a:prstGeom prst="roundRect">
            <a:avLst>
              <a:gd name="adj" fmla="val 3043"/>
            </a:avLst>
          </a:prstGeom>
          <a:solidFill>
            <a:srgbClr val="E9E6FA"/>
          </a:solidFill>
          <a:ln w="4763">
            <a:solidFill>
              <a:srgbClr val="BDB8DF"/>
            </a:solidFill>
            <a:prstDash val="solid"/>
          </a:ln>
        </p:spPr>
      </p:sp>
      <p:sp>
        <p:nvSpPr>
          <p:cNvPr id="7" name="Text 5"/>
          <p:cNvSpPr/>
          <p:nvPr/>
        </p:nvSpPr>
        <p:spPr>
          <a:xfrm>
            <a:off x="2693789" y="1638970"/>
            <a:ext cx="1687488"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Language Model Module</a:t>
            </a:r>
            <a:endParaRPr lang="en-US" sz="1200" dirty="0"/>
          </a:p>
        </p:txBody>
      </p:sp>
      <p:sp>
        <p:nvSpPr>
          <p:cNvPr id="8" name="Text 6"/>
          <p:cNvSpPr/>
          <p:nvPr/>
        </p:nvSpPr>
        <p:spPr>
          <a:xfrm>
            <a:off x="2693789" y="2101081"/>
            <a:ext cx="168748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Supports agent reasoning, improves coordination, enables contextual and adaptive negotiation strategies.</a:t>
            </a:r>
            <a:endParaRPr lang="en-US" sz="950" dirty="0"/>
          </a:p>
        </p:txBody>
      </p:sp>
      <p:sp>
        <p:nvSpPr>
          <p:cNvPr id="9" name="Shape 7"/>
          <p:cNvSpPr/>
          <p:nvPr/>
        </p:nvSpPr>
        <p:spPr>
          <a:xfrm>
            <a:off x="4633987" y="1510233"/>
            <a:ext cx="1944960" cy="1711896"/>
          </a:xfrm>
          <a:prstGeom prst="roundRect">
            <a:avLst>
              <a:gd name="adj" fmla="val 3043"/>
            </a:avLst>
          </a:prstGeom>
          <a:solidFill>
            <a:srgbClr val="E9E6FA"/>
          </a:solidFill>
          <a:ln w="4763">
            <a:solidFill>
              <a:srgbClr val="BDB8DF"/>
            </a:solidFill>
            <a:prstDash val="solid"/>
          </a:ln>
        </p:spPr>
      </p:sp>
      <p:sp>
        <p:nvSpPr>
          <p:cNvPr id="10" name="Text 8"/>
          <p:cNvSpPr/>
          <p:nvPr/>
        </p:nvSpPr>
        <p:spPr>
          <a:xfrm>
            <a:off x="4762723" y="1638970"/>
            <a:ext cx="1687488"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Federated Learning Server</a:t>
            </a:r>
            <a:endParaRPr lang="en-US" sz="1200" dirty="0"/>
          </a:p>
        </p:txBody>
      </p:sp>
      <p:sp>
        <p:nvSpPr>
          <p:cNvPr id="11" name="Text 9"/>
          <p:cNvSpPr/>
          <p:nvPr/>
        </p:nvSpPr>
        <p:spPr>
          <a:xfrm>
            <a:off x="4762723" y="2101081"/>
            <a:ext cx="168748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Trains distributed forecasting models on local data, preserving privacy and improving prediction accuracy without sharing raw data.</a:t>
            </a:r>
            <a:endParaRPr lang="en-US" sz="950" dirty="0"/>
          </a:p>
        </p:txBody>
      </p:sp>
      <p:sp>
        <p:nvSpPr>
          <p:cNvPr id="12" name="Shape 10"/>
          <p:cNvSpPr/>
          <p:nvPr/>
        </p:nvSpPr>
        <p:spPr>
          <a:xfrm>
            <a:off x="6702921" y="1510233"/>
            <a:ext cx="1944960" cy="1711896"/>
          </a:xfrm>
          <a:prstGeom prst="roundRect">
            <a:avLst>
              <a:gd name="adj" fmla="val 3043"/>
            </a:avLst>
          </a:prstGeom>
          <a:solidFill>
            <a:srgbClr val="E9E6FA"/>
          </a:solidFill>
          <a:ln w="4763">
            <a:solidFill>
              <a:srgbClr val="BDB8DF"/>
            </a:solidFill>
            <a:prstDash val="solid"/>
          </a:ln>
        </p:spPr>
      </p:sp>
      <p:sp>
        <p:nvSpPr>
          <p:cNvPr id="13" name="Text 11"/>
          <p:cNvSpPr/>
          <p:nvPr/>
        </p:nvSpPr>
        <p:spPr>
          <a:xfrm>
            <a:off x="6831657" y="1638970"/>
            <a:ext cx="1687488"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Power System Analysis Engine</a:t>
            </a:r>
            <a:endParaRPr lang="en-US" sz="1200" dirty="0"/>
          </a:p>
        </p:txBody>
      </p:sp>
      <p:sp>
        <p:nvSpPr>
          <p:cNvPr id="14" name="Text 12"/>
          <p:cNvSpPr/>
          <p:nvPr/>
        </p:nvSpPr>
        <p:spPr>
          <a:xfrm>
            <a:off x="6831657" y="2101081"/>
            <a:ext cx="168748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Runs Optimal Power Flow (OPF) to validate physical grid feasibility and prevent overloads before trades are approved.</a:t>
            </a:r>
            <a:endParaRPr lang="en-US" sz="950" dirty="0"/>
          </a:p>
        </p:txBody>
      </p:sp>
      <p:sp>
        <p:nvSpPr>
          <p:cNvPr id="15" name="Shape 13"/>
          <p:cNvSpPr/>
          <p:nvPr/>
        </p:nvSpPr>
        <p:spPr>
          <a:xfrm>
            <a:off x="496119" y="3346103"/>
            <a:ext cx="4013895" cy="922660"/>
          </a:xfrm>
          <a:prstGeom prst="roundRect">
            <a:avLst>
              <a:gd name="adj" fmla="val 5647"/>
            </a:avLst>
          </a:prstGeom>
          <a:solidFill>
            <a:srgbClr val="E9E6FA"/>
          </a:solidFill>
          <a:ln w="4763">
            <a:solidFill>
              <a:srgbClr val="BDB8DF"/>
            </a:solidFill>
            <a:prstDash val="solid"/>
          </a:ln>
        </p:spPr>
      </p:sp>
      <p:sp>
        <p:nvSpPr>
          <p:cNvPr id="16" name="Text 14"/>
          <p:cNvSpPr/>
          <p:nvPr/>
        </p:nvSpPr>
        <p:spPr>
          <a:xfrm>
            <a:off x="624855" y="347483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Blockchain Node</a:t>
            </a:r>
            <a:endParaRPr lang="en-US" sz="1200" dirty="0"/>
          </a:p>
        </p:txBody>
      </p:sp>
      <p:sp>
        <p:nvSpPr>
          <p:cNvPr id="17" name="Text 15"/>
          <p:cNvSpPr/>
          <p:nvPr/>
        </p:nvSpPr>
        <p:spPr>
          <a:xfrm>
            <a:off x="624855" y="3743102"/>
            <a:ext cx="375642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Private Ethereum (Hardhat) node records validated transactions for transparency and immutable settlement records.</a:t>
            </a:r>
            <a:endParaRPr lang="en-US" sz="950" dirty="0"/>
          </a:p>
        </p:txBody>
      </p:sp>
      <p:sp>
        <p:nvSpPr>
          <p:cNvPr id="18" name="Shape 16"/>
          <p:cNvSpPr/>
          <p:nvPr/>
        </p:nvSpPr>
        <p:spPr>
          <a:xfrm>
            <a:off x="4633987" y="3346103"/>
            <a:ext cx="4013895" cy="922660"/>
          </a:xfrm>
          <a:prstGeom prst="roundRect">
            <a:avLst>
              <a:gd name="adj" fmla="val 5647"/>
            </a:avLst>
          </a:prstGeom>
          <a:solidFill>
            <a:srgbClr val="E9E6FA"/>
          </a:solidFill>
          <a:ln w="4763">
            <a:solidFill>
              <a:srgbClr val="BDB8DF"/>
            </a:solidFill>
            <a:prstDash val="solid"/>
          </a:ln>
        </p:spPr>
      </p:sp>
      <p:sp>
        <p:nvSpPr>
          <p:cNvPr id="19" name="Text 17"/>
          <p:cNvSpPr/>
          <p:nvPr/>
        </p:nvSpPr>
        <p:spPr>
          <a:xfrm>
            <a:off x="4762723" y="3474839"/>
            <a:ext cx="2425229"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Real‑Time Communication Server</a:t>
            </a:r>
            <a:endParaRPr lang="en-US" sz="1200" dirty="0"/>
          </a:p>
        </p:txBody>
      </p:sp>
      <p:sp>
        <p:nvSpPr>
          <p:cNvPr id="20" name="Text 18"/>
          <p:cNvSpPr/>
          <p:nvPr/>
        </p:nvSpPr>
        <p:spPr>
          <a:xfrm>
            <a:off x="4762723" y="3743102"/>
            <a:ext cx="375642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Provides low‑latency messaging, dashboard updates and synchronisation across household nodes.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524446"/>
            <a:ext cx="6063258"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Household Node — Devices &amp; Functions</a:t>
            </a:r>
            <a:endParaRPr lang="en-US" sz="2400" dirty="0"/>
          </a:p>
        </p:txBody>
      </p:sp>
      <p:pic>
        <p:nvPicPr>
          <p:cNvPr id="3" name="Image 0" descr="preencoded.png">    </p:cNvPr>
          <p:cNvPicPr>
            <a:picLocks noChangeAspect="1"/>
          </p:cNvPicPr>
          <p:nvPr/>
        </p:nvPicPr>
        <p:blipFill>
          <a:blip r:embed="rId1"/>
          <a:stretch>
            <a:fillRect/>
          </a:stretch>
        </p:blipFill>
        <p:spPr>
          <a:xfrm>
            <a:off x="496119" y="2160017"/>
            <a:ext cx="757982" cy="947440"/>
          </a:xfrm>
          <a:prstGeom prst="rect">
            <a:avLst/>
          </a:prstGeom>
        </p:spPr>
      </p:pic>
      <p:sp>
        <p:nvSpPr>
          <p:cNvPr id="4" name="Text 1"/>
          <p:cNvSpPr/>
          <p:nvPr/>
        </p:nvSpPr>
        <p:spPr>
          <a:xfrm>
            <a:off x="1409105" y="216001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PZEM‑004T Sensor</a:t>
            </a:r>
            <a:endParaRPr lang="en-US" sz="1200" dirty="0"/>
          </a:p>
        </p:txBody>
      </p:sp>
      <p:sp>
        <p:nvSpPr>
          <p:cNvPr id="5" name="Text 2"/>
          <p:cNvSpPr/>
          <p:nvPr/>
        </p:nvSpPr>
        <p:spPr>
          <a:xfrm>
            <a:off x="1409105" y="2428280"/>
            <a:ext cx="170088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Measures voltage, current and calculates instantaneous power for generation and consumption monitoring.</a:t>
            </a:r>
            <a:endParaRPr lang="en-US" sz="950" dirty="0"/>
          </a:p>
        </p:txBody>
      </p:sp>
      <p:pic>
        <p:nvPicPr>
          <p:cNvPr id="6" name="Image 1" descr="preencoded.png">    </p:cNvPr>
          <p:cNvPicPr>
            <a:picLocks noChangeAspect="1"/>
          </p:cNvPicPr>
          <p:nvPr/>
        </p:nvPicPr>
        <p:blipFill>
          <a:blip r:embed="rId2"/>
          <a:stretch>
            <a:fillRect/>
          </a:stretch>
        </p:blipFill>
        <p:spPr>
          <a:xfrm>
            <a:off x="3264991" y="2160017"/>
            <a:ext cx="757982" cy="947440"/>
          </a:xfrm>
          <a:prstGeom prst="rect">
            <a:avLst/>
          </a:prstGeom>
        </p:spPr>
      </p:pic>
      <p:sp>
        <p:nvSpPr>
          <p:cNvPr id="7" name="Text 3"/>
          <p:cNvSpPr/>
          <p:nvPr/>
        </p:nvSpPr>
        <p:spPr>
          <a:xfrm>
            <a:off x="4177978" y="216001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4‑Channel Relay</a:t>
            </a:r>
            <a:endParaRPr lang="en-US" sz="1200" dirty="0"/>
          </a:p>
        </p:txBody>
      </p:sp>
      <p:sp>
        <p:nvSpPr>
          <p:cNvPr id="8" name="Text 4"/>
          <p:cNvSpPr/>
          <p:nvPr/>
        </p:nvSpPr>
        <p:spPr>
          <a:xfrm>
            <a:off x="4177978" y="2428280"/>
            <a:ext cx="170095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Controls household loads for demand response and executes switching based on trading outcomes.</a:t>
            </a:r>
            <a:endParaRPr lang="en-US" sz="950" dirty="0"/>
          </a:p>
        </p:txBody>
      </p:sp>
      <p:pic>
        <p:nvPicPr>
          <p:cNvPr id="9" name="Image 2" descr="preencoded.png">    </p:cNvPr>
          <p:cNvPicPr>
            <a:picLocks noChangeAspect="1"/>
          </p:cNvPicPr>
          <p:nvPr/>
        </p:nvPicPr>
        <p:blipFill>
          <a:blip r:embed="rId3"/>
          <a:stretch>
            <a:fillRect/>
          </a:stretch>
        </p:blipFill>
        <p:spPr>
          <a:xfrm>
            <a:off x="6033939" y="2160017"/>
            <a:ext cx="757982" cy="947440"/>
          </a:xfrm>
          <a:prstGeom prst="rect">
            <a:avLst/>
          </a:prstGeom>
        </p:spPr>
      </p:pic>
      <p:sp>
        <p:nvSpPr>
          <p:cNvPr id="10" name="Text 5"/>
          <p:cNvSpPr/>
          <p:nvPr/>
        </p:nvSpPr>
        <p:spPr>
          <a:xfrm>
            <a:off x="6946925" y="216001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ESP32 Controller</a:t>
            </a:r>
            <a:endParaRPr lang="en-US" sz="1200" dirty="0"/>
          </a:p>
        </p:txBody>
      </p:sp>
      <p:sp>
        <p:nvSpPr>
          <p:cNvPr id="11" name="Text 6"/>
          <p:cNvSpPr/>
          <p:nvPr/>
        </p:nvSpPr>
        <p:spPr>
          <a:xfrm>
            <a:off x="6946925" y="2428280"/>
            <a:ext cx="1700957"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Acts as the household controller: collects sensor data, executes control commands, and communicates with the cluster server.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06003"/>
            <a:ext cx="6874148"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Energy Trading Workflow (15‑minute rounds)</a:t>
            </a:r>
            <a:endParaRPr lang="en-US" sz="2400" dirty="0"/>
          </a:p>
        </p:txBody>
      </p:sp>
      <p:pic>
        <p:nvPicPr>
          <p:cNvPr id="3" name="Image 0" descr="preencoded.png">    </p:cNvPr>
          <p:cNvPicPr>
            <a:picLocks noChangeAspect="1"/>
          </p:cNvPicPr>
          <p:nvPr/>
        </p:nvPicPr>
        <p:blipFill>
          <a:blip r:embed="rId1"/>
          <a:stretch>
            <a:fillRect/>
          </a:stretch>
        </p:blipFill>
        <p:spPr>
          <a:xfrm>
            <a:off x="626641" y="1041574"/>
            <a:ext cx="7890644" cy="2960936"/>
          </a:xfrm>
          <a:prstGeom prst="rect">
            <a:avLst/>
          </a:prstGeom>
        </p:spPr>
      </p:pic>
      <p:sp>
        <p:nvSpPr>
          <p:cNvPr id="4" name="Text 1"/>
          <p:cNvSpPr/>
          <p:nvPr/>
        </p:nvSpPr>
        <p:spPr>
          <a:xfrm>
            <a:off x="7002209" y="3283715"/>
            <a:ext cx="1190147" cy="229266"/>
          </a:xfrm>
          <a:prstGeom prst="rect">
            <a:avLst/>
          </a:prstGeom>
          <a:noFill/>
          <a:ln/>
        </p:spPr>
        <p:txBody>
          <a:bodyPr wrap="none" lIns="0" tIns="0" rIns="0" bIns="0" rtlCol="0" anchor="t"/>
          <a:lstStyle/>
          <a:p>
            <a:pPr algn="ctr" indent="0" marL="0">
              <a:lnSpc>
                <a:spcPct val="104000"/>
              </a:lnSpc>
              <a:buNone/>
            </a:pPr>
            <a:r>
              <a:rPr lang="en-US" sz="1400" dirty="0">
                <a:solidFill>
                  <a:srgbClr val="2A2742"/>
                </a:solidFill>
                <a:latin typeface="Outfit ExtraBold" pitchFamily="34" charset="0"/>
                <a:ea typeface="Outfit ExtraBold" pitchFamily="34" charset="-122"/>
                <a:cs typeface="Outfit ExtraBold" pitchFamily="34" charset="-120"/>
              </a:rPr>
              <a:t>Validate</a:t>
            </a:r>
            <a:endParaRPr lang="en-US" sz="1400" dirty="0"/>
          </a:p>
        </p:txBody>
      </p:sp>
      <p:sp>
        <p:nvSpPr>
          <p:cNvPr id="5" name="Text 2"/>
          <p:cNvSpPr/>
          <p:nvPr/>
        </p:nvSpPr>
        <p:spPr>
          <a:xfrm>
            <a:off x="5502299" y="3283715"/>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2A2742"/>
                </a:solidFill>
                <a:latin typeface="Outfit ExtraBold" pitchFamily="34" charset="0"/>
                <a:ea typeface="Outfit ExtraBold" pitchFamily="34" charset="-122"/>
                <a:cs typeface="Outfit ExtraBold" pitchFamily="34" charset="-120"/>
              </a:rPr>
              <a:t>Negotiate</a:t>
            </a:r>
            <a:endParaRPr lang="en-US" sz="1400" dirty="0"/>
          </a:p>
        </p:txBody>
      </p:sp>
      <p:sp>
        <p:nvSpPr>
          <p:cNvPr id="6" name="Text 3"/>
          <p:cNvSpPr/>
          <p:nvPr/>
        </p:nvSpPr>
        <p:spPr>
          <a:xfrm>
            <a:off x="4010540" y="3283715"/>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2A2742"/>
                </a:solidFill>
                <a:latin typeface="Outfit ExtraBold" pitchFamily="34" charset="0"/>
                <a:ea typeface="Outfit ExtraBold" pitchFamily="34" charset="-122"/>
                <a:cs typeface="Outfit ExtraBold" pitchFamily="34" charset="-120"/>
              </a:rPr>
              <a:t>Forecast</a:t>
            </a:r>
            <a:endParaRPr lang="en-US" sz="1400" dirty="0"/>
          </a:p>
        </p:txBody>
      </p:sp>
      <p:sp>
        <p:nvSpPr>
          <p:cNvPr id="7" name="Text 4"/>
          <p:cNvSpPr/>
          <p:nvPr/>
        </p:nvSpPr>
        <p:spPr>
          <a:xfrm>
            <a:off x="2518781" y="3283715"/>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2A2742"/>
                </a:solidFill>
                <a:latin typeface="Outfit ExtraBold" pitchFamily="34" charset="0"/>
                <a:ea typeface="Outfit ExtraBold" pitchFamily="34" charset="-122"/>
                <a:cs typeface="Outfit ExtraBold" pitchFamily="34" charset="-120"/>
              </a:rPr>
              <a:t>Transmit</a:t>
            </a:r>
            <a:endParaRPr lang="en-US" sz="1400" dirty="0"/>
          </a:p>
        </p:txBody>
      </p:sp>
      <p:sp>
        <p:nvSpPr>
          <p:cNvPr id="8" name="Text 5"/>
          <p:cNvSpPr/>
          <p:nvPr/>
        </p:nvSpPr>
        <p:spPr>
          <a:xfrm>
            <a:off x="994415" y="3283715"/>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2A2742"/>
                </a:solidFill>
                <a:latin typeface="Outfit ExtraBold" pitchFamily="34" charset="0"/>
                <a:ea typeface="Outfit ExtraBold" pitchFamily="34" charset="-122"/>
                <a:cs typeface="Outfit ExtraBold" pitchFamily="34" charset="-120"/>
              </a:rPr>
              <a:t>Measure</a:t>
            </a:r>
            <a:endParaRPr lang="en-US" sz="1400" dirty="0"/>
          </a:p>
        </p:txBody>
      </p:sp>
      <p:sp>
        <p:nvSpPr>
          <p:cNvPr id="9" name="Text 6"/>
          <p:cNvSpPr/>
          <p:nvPr/>
        </p:nvSpPr>
        <p:spPr>
          <a:xfrm>
            <a:off x="496119" y="4142036"/>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Process summary: (1) PZEM sensors measure; (2) ESP32 sends data to Cluster; (3) forecasting estimates demand &amp; generation; (4) agents negotiate trades; (5) OPF validates grid constraints; (6) approved trades finalised; (7) transactions written to local Ethereum; (8) dashboards update in real time.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83604"/>
            <a:ext cx="8105403" cy="375493"/>
          </a:xfrm>
          <a:prstGeom prst="rect">
            <a:avLst/>
          </a:prstGeom>
          <a:noFill/>
          <a:ln/>
        </p:spPr>
        <p:txBody>
          <a:bodyPr wrap="none" lIns="0" tIns="0" rIns="0" bIns="0" rtlCol="0" anchor="t"/>
          <a:lstStyle/>
          <a:p>
            <a:pPr algn="l" indent="0" marL="0">
              <a:lnSpc>
                <a:spcPct val="104000"/>
              </a:lnSpc>
              <a:buNone/>
            </a:pPr>
            <a:r>
              <a:rPr lang="en-US" sz="2350" dirty="0">
                <a:solidFill>
                  <a:srgbClr val="231971"/>
                </a:solidFill>
                <a:latin typeface="Outfit ExtraBold" pitchFamily="34" charset="0"/>
                <a:ea typeface="Outfit ExtraBold" pitchFamily="34" charset="-122"/>
                <a:cs typeface="Outfit ExtraBold" pitchFamily="34" charset="-120"/>
              </a:rPr>
              <a:t>Cost Analysis — Per Household &amp; Shared Infrastructure</a:t>
            </a:r>
            <a:endParaRPr lang="en-US" sz="2350" dirty="0"/>
          </a:p>
        </p:txBody>
      </p:sp>
      <p:sp>
        <p:nvSpPr>
          <p:cNvPr id="3" name="Shape 1"/>
          <p:cNvSpPr/>
          <p:nvPr/>
        </p:nvSpPr>
        <p:spPr>
          <a:xfrm>
            <a:off x="496119" y="991865"/>
            <a:ext cx="8151763" cy="2406625"/>
          </a:xfrm>
          <a:prstGeom prst="roundRect">
            <a:avLst>
              <a:gd name="adj" fmla="val 2097"/>
            </a:avLst>
          </a:prstGeom>
          <a:noFill/>
          <a:ln w="4763">
            <a:solidFill>
              <a:srgbClr val="000000">
                <a:alpha val="8000"/>
              </a:srgbClr>
            </a:solidFill>
            <a:prstDash val="solid"/>
          </a:ln>
        </p:spPr>
      </p:sp>
      <p:sp>
        <p:nvSpPr>
          <p:cNvPr id="4" name="Shape 2"/>
          <p:cNvSpPr/>
          <p:nvPr/>
        </p:nvSpPr>
        <p:spPr>
          <a:xfrm>
            <a:off x="500881" y="996628"/>
            <a:ext cx="4071119" cy="340742"/>
          </a:xfrm>
          <a:prstGeom prst="rect">
            <a:avLst/>
          </a:prstGeom>
          <a:solidFill>
            <a:srgbClr val="5E4CE6"/>
          </a:solidFill>
          <a:ln/>
        </p:spPr>
      </p:sp>
      <p:sp>
        <p:nvSpPr>
          <p:cNvPr id="5" name="Text 3"/>
          <p:cNvSpPr/>
          <p:nvPr/>
        </p:nvSpPr>
        <p:spPr>
          <a:xfrm>
            <a:off x="620985" y="1071190"/>
            <a:ext cx="4285729" cy="189235"/>
          </a:xfrm>
          <a:prstGeom prst="rect">
            <a:avLst/>
          </a:prstGeom>
          <a:noFill/>
          <a:ln/>
        </p:spPr>
        <p:txBody>
          <a:bodyPr wrap="none" lIns="0" tIns="0" rIns="0" bIns="0" rtlCol="0" anchor="t"/>
          <a:lstStyle/>
          <a:p>
            <a:pPr algn="l" indent="0" marL="0">
              <a:lnSpc>
                <a:spcPct val="131000"/>
              </a:lnSpc>
              <a:buNone/>
            </a:pPr>
            <a:r>
              <a:rPr lang="en-US" sz="900" b="1" dirty="0">
                <a:solidFill>
                  <a:srgbClr val="FFFFFF"/>
                </a:solidFill>
                <a:latin typeface="Arimo" pitchFamily="34" charset="0"/>
                <a:ea typeface="Arimo" pitchFamily="34" charset="-122"/>
                <a:cs typeface="Arimo" pitchFamily="34" charset="-120"/>
              </a:rPr>
              <a:t>Per Household Component</a:t>
            </a:r>
            <a:endParaRPr lang="en-US" sz="900" dirty="0"/>
          </a:p>
        </p:txBody>
      </p:sp>
      <p:sp>
        <p:nvSpPr>
          <p:cNvPr id="6" name="Shape 4"/>
          <p:cNvSpPr/>
          <p:nvPr/>
        </p:nvSpPr>
        <p:spPr>
          <a:xfrm>
            <a:off x="4572000" y="996628"/>
            <a:ext cx="4071119" cy="340742"/>
          </a:xfrm>
          <a:prstGeom prst="rect">
            <a:avLst/>
          </a:prstGeom>
          <a:solidFill>
            <a:srgbClr val="5E4CE6"/>
          </a:solidFill>
          <a:ln/>
        </p:spPr>
      </p:sp>
      <p:sp>
        <p:nvSpPr>
          <p:cNvPr id="7" name="Text 5"/>
          <p:cNvSpPr/>
          <p:nvPr/>
        </p:nvSpPr>
        <p:spPr>
          <a:xfrm>
            <a:off x="4694486" y="1071190"/>
            <a:ext cx="4285729" cy="189235"/>
          </a:xfrm>
          <a:prstGeom prst="rect">
            <a:avLst/>
          </a:prstGeom>
          <a:noFill/>
          <a:ln/>
        </p:spPr>
        <p:txBody>
          <a:bodyPr wrap="none" lIns="0" tIns="0" rIns="0" bIns="0" rtlCol="0" anchor="t"/>
          <a:lstStyle/>
          <a:p>
            <a:pPr algn="l" indent="0" marL="0">
              <a:lnSpc>
                <a:spcPct val="131000"/>
              </a:lnSpc>
              <a:buNone/>
            </a:pPr>
            <a:r>
              <a:rPr lang="en-US" sz="900" b="1" dirty="0">
                <a:solidFill>
                  <a:srgbClr val="FFFFFF"/>
                </a:solidFill>
                <a:latin typeface="Arimo" pitchFamily="34" charset="0"/>
                <a:ea typeface="Arimo" pitchFamily="34" charset="-122"/>
                <a:cs typeface="Arimo" pitchFamily="34" charset="-120"/>
              </a:rPr>
              <a:t>Cost (INR)</a:t>
            </a:r>
            <a:endParaRPr lang="en-US" sz="900" dirty="0"/>
          </a:p>
        </p:txBody>
      </p:sp>
      <p:sp>
        <p:nvSpPr>
          <p:cNvPr id="8" name="Text 6"/>
          <p:cNvSpPr/>
          <p:nvPr/>
        </p:nvSpPr>
        <p:spPr>
          <a:xfrm>
            <a:off x="620985" y="1414314"/>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PZEM‑004T Energy Sensor</a:t>
            </a:r>
            <a:endParaRPr lang="en-US" sz="900" dirty="0"/>
          </a:p>
        </p:txBody>
      </p:sp>
      <p:sp>
        <p:nvSpPr>
          <p:cNvPr id="9" name="Text 7"/>
          <p:cNvSpPr/>
          <p:nvPr/>
        </p:nvSpPr>
        <p:spPr>
          <a:xfrm>
            <a:off x="4694486" y="1414314"/>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₹534</a:t>
            </a:r>
            <a:endParaRPr lang="en-US" sz="900" dirty="0"/>
          </a:p>
        </p:txBody>
      </p:sp>
      <p:sp>
        <p:nvSpPr>
          <p:cNvPr id="10" name="Text 8"/>
          <p:cNvSpPr/>
          <p:nvPr/>
        </p:nvSpPr>
        <p:spPr>
          <a:xfrm>
            <a:off x="620985" y="1757437"/>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ESP32 Microcontroller</a:t>
            </a:r>
            <a:endParaRPr lang="en-US" sz="900" dirty="0"/>
          </a:p>
        </p:txBody>
      </p:sp>
      <p:sp>
        <p:nvSpPr>
          <p:cNvPr id="11" name="Text 9"/>
          <p:cNvSpPr/>
          <p:nvPr/>
        </p:nvSpPr>
        <p:spPr>
          <a:xfrm>
            <a:off x="4694486" y="1757437"/>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₹249</a:t>
            </a:r>
            <a:endParaRPr lang="en-US" sz="900" dirty="0"/>
          </a:p>
        </p:txBody>
      </p:sp>
      <p:sp>
        <p:nvSpPr>
          <p:cNvPr id="12" name="Text 10"/>
          <p:cNvSpPr/>
          <p:nvPr/>
        </p:nvSpPr>
        <p:spPr>
          <a:xfrm>
            <a:off x="620985" y="2100560"/>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4‑Channel Relay Module</a:t>
            </a:r>
            <a:endParaRPr lang="en-US" sz="900" dirty="0"/>
          </a:p>
        </p:txBody>
      </p:sp>
      <p:sp>
        <p:nvSpPr>
          <p:cNvPr id="13" name="Text 11"/>
          <p:cNvSpPr/>
          <p:nvPr/>
        </p:nvSpPr>
        <p:spPr>
          <a:xfrm>
            <a:off x="4694486" y="2100560"/>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₹249</a:t>
            </a:r>
            <a:endParaRPr lang="en-US" sz="900" dirty="0"/>
          </a:p>
        </p:txBody>
      </p:sp>
      <p:sp>
        <p:nvSpPr>
          <p:cNvPr id="14" name="Text 12"/>
          <p:cNvSpPr/>
          <p:nvPr/>
        </p:nvSpPr>
        <p:spPr>
          <a:xfrm>
            <a:off x="620985" y="2443683"/>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Share of Mini‑PC Cost</a:t>
            </a:r>
            <a:endParaRPr lang="en-US" sz="900" dirty="0"/>
          </a:p>
        </p:txBody>
      </p:sp>
      <p:sp>
        <p:nvSpPr>
          <p:cNvPr id="15" name="Text 13"/>
          <p:cNvSpPr/>
          <p:nvPr/>
        </p:nvSpPr>
        <p:spPr>
          <a:xfrm>
            <a:off x="4694486" y="2443683"/>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₹2,800</a:t>
            </a:r>
            <a:endParaRPr lang="en-US" sz="900" dirty="0"/>
          </a:p>
        </p:txBody>
      </p:sp>
      <p:sp>
        <p:nvSpPr>
          <p:cNvPr id="16" name="Text 14"/>
          <p:cNvSpPr/>
          <p:nvPr/>
        </p:nvSpPr>
        <p:spPr>
          <a:xfrm>
            <a:off x="620985" y="2786807"/>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Share of Wi‑Fi Access Point</a:t>
            </a:r>
            <a:endParaRPr lang="en-US" sz="900" dirty="0"/>
          </a:p>
        </p:txBody>
      </p:sp>
      <p:sp>
        <p:nvSpPr>
          <p:cNvPr id="17" name="Text 15"/>
          <p:cNvSpPr/>
          <p:nvPr/>
        </p:nvSpPr>
        <p:spPr>
          <a:xfrm>
            <a:off x="4694486" y="2786807"/>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₹506</a:t>
            </a:r>
            <a:endParaRPr lang="en-US" sz="900" dirty="0"/>
          </a:p>
        </p:txBody>
      </p:sp>
      <p:sp>
        <p:nvSpPr>
          <p:cNvPr id="18" name="Text 16"/>
          <p:cNvSpPr/>
          <p:nvPr/>
        </p:nvSpPr>
        <p:spPr>
          <a:xfrm>
            <a:off x="620985" y="3129930"/>
            <a:ext cx="4285729" cy="189235"/>
          </a:xfrm>
          <a:prstGeom prst="rect">
            <a:avLst/>
          </a:prstGeom>
          <a:noFill/>
          <a:ln/>
        </p:spPr>
        <p:txBody>
          <a:bodyPr wrap="none" lIns="0" tIns="0" rIns="0" bIns="0" rtlCol="0" anchor="t"/>
          <a:lstStyle/>
          <a:p>
            <a:pPr algn="l" indent="0" marL="0">
              <a:lnSpc>
                <a:spcPct val="131000"/>
              </a:lnSpc>
              <a:buNone/>
            </a:pPr>
            <a:r>
              <a:rPr lang="en-US" sz="900" b="1" dirty="0">
                <a:solidFill>
                  <a:srgbClr val="2A2742"/>
                </a:solidFill>
                <a:latin typeface="Arimo" pitchFamily="34" charset="0"/>
                <a:ea typeface="Arimo" pitchFamily="34" charset="-122"/>
                <a:cs typeface="Arimo" pitchFamily="34" charset="-120"/>
              </a:rPr>
              <a:t>Total per Household</a:t>
            </a:r>
            <a:endParaRPr lang="en-US" sz="900" dirty="0"/>
          </a:p>
        </p:txBody>
      </p:sp>
      <p:sp>
        <p:nvSpPr>
          <p:cNvPr id="19" name="Text 17"/>
          <p:cNvSpPr/>
          <p:nvPr/>
        </p:nvSpPr>
        <p:spPr>
          <a:xfrm>
            <a:off x="4694486" y="3129930"/>
            <a:ext cx="4285729" cy="189235"/>
          </a:xfrm>
          <a:prstGeom prst="rect">
            <a:avLst/>
          </a:prstGeom>
          <a:noFill/>
          <a:ln/>
        </p:spPr>
        <p:txBody>
          <a:bodyPr wrap="none" lIns="0" tIns="0" rIns="0" bIns="0" rtlCol="0" anchor="t"/>
          <a:lstStyle/>
          <a:p>
            <a:pPr algn="l" indent="0" marL="0">
              <a:lnSpc>
                <a:spcPct val="131000"/>
              </a:lnSpc>
              <a:buNone/>
            </a:pPr>
            <a:r>
              <a:rPr lang="en-US" sz="900" b="1" dirty="0">
                <a:solidFill>
                  <a:srgbClr val="2A2742"/>
                </a:solidFill>
                <a:latin typeface="Arimo" pitchFamily="34" charset="0"/>
                <a:ea typeface="Arimo" pitchFamily="34" charset="-122"/>
                <a:cs typeface="Arimo" pitchFamily="34" charset="-120"/>
              </a:rPr>
              <a:t>₹4,338</a:t>
            </a:r>
            <a:endParaRPr lang="en-US" sz="900" dirty="0"/>
          </a:p>
        </p:txBody>
      </p:sp>
      <p:sp>
        <p:nvSpPr>
          <p:cNvPr id="20" name="Shape 18"/>
          <p:cNvSpPr/>
          <p:nvPr/>
        </p:nvSpPr>
        <p:spPr>
          <a:xfrm>
            <a:off x="496119" y="3559373"/>
            <a:ext cx="8151763" cy="14957"/>
          </a:xfrm>
          <a:prstGeom prst="roundRect">
            <a:avLst>
              <a:gd name="adj" fmla="val 337444"/>
            </a:avLst>
          </a:prstGeom>
          <a:solidFill>
            <a:srgbClr val="2A2742">
              <a:alpha val="50000"/>
            </a:srgbClr>
          </a:solidFill>
          <a:ln/>
        </p:spPr>
      </p:sp>
      <p:sp>
        <p:nvSpPr>
          <p:cNvPr id="21" name="Shape 19"/>
          <p:cNvSpPr/>
          <p:nvPr/>
        </p:nvSpPr>
        <p:spPr>
          <a:xfrm>
            <a:off x="496119" y="3735214"/>
            <a:ext cx="8151763" cy="1024607"/>
          </a:xfrm>
          <a:prstGeom prst="roundRect">
            <a:avLst>
              <a:gd name="adj" fmla="val 4926"/>
            </a:avLst>
          </a:prstGeom>
          <a:noFill/>
          <a:ln w="4763">
            <a:solidFill>
              <a:srgbClr val="000000">
                <a:alpha val="8000"/>
              </a:srgbClr>
            </a:solidFill>
            <a:prstDash val="solid"/>
          </a:ln>
        </p:spPr>
      </p:sp>
      <p:sp>
        <p:nvSpPr>
          <p:cNvPr id="22" name="Shape 20"/>
          <p:cNvSpPr/>
          <p:nvPr/>
        </p:nvSpPr>
        <p:spPr>
          <a:xfrm>
            <a:off x="500881" y="3739976"/>
            <a:ext cx="8142238" cy="338361"/>
          </a:xfrm>
          <a:prstGeom prst="rect">
            <a:avLst/>
          </a:prstGeom>
          <a:solidFill>
            <a:srgbClr val="FFFFFF">
              <a:alpha val="4000"/>
            </a:srgbClr>
          </a:solidFill>
          <a:ln/>
        </p:spPr>
      </p:sp>
      <p:sp>
        <p:nvSpPr>
          <p:cNvPr id="23" name="Shape 21"/>
          <p:cNvSpPr/>
          <p:nvPr/>
        </p:nvSpPr>
        <p:spPr>
          <a:xfrm>
            <a:off x="500881" y="3739976"/>
            <a:ext cx="4071119" cy="338361"/>
          </a:xfrm>
          <a:prstGeom prst="rect">
            <a:avLst/>
          </a:prstGeom>
          <a:solidFill>
            <a:srgbClr val="5E4CE6"/>
          </a:solidFill>
          <a:ln/>
        </p:spPr>
      </p:sp>
      <p:sp>
        <p:nvSpPr>
          <p:cNvPr id="24" name="Text 22"/>
          <p:cNvSpPr/>
          <p:nvPr/>
        </p:nvSpPr>
        <p:spPr>
          <a:xfrm>
            <a:off x="620985" y="3814539"/>
            <a:ext cx="4285729" cy="189235"/>
          </a:xfrm>
          <a:prstGeom prst="rect">
            <a:avLst/>
          </a:prstGeom>
          <a:noFill/>
          <a:ln/>
        </p:spPr>
        <p:txBody>
          <a:bodyPr wrap="none" lIns="0" tIns="0" rIns="0" bIns="0" rtlCol="0" anchor="t"/>
          <a:lstStyle/>
          <a:p>
            <a:pPr algn="l" indent="0" marL="0">
              <a:lnSpc>
                <a:spcPct val="131000"/>
              </a:lnSpc>
              <a:buNone/>
            </a:pPr>
            <a:r>
              <a:rPr lang="en-US" sz="900" b="1" dirty="0">
                <a:solidFill>
                  <a:srgbClr val="FFFFFF"/>
                </a:solidFill>
                <a:latin typeface="Arimo" pitchFamily="34" charset="0"/>
                <a:ea typeface="Arimo" pitchFamily="34" charset="-122"/>
                <a:cs typeface="Arimo" pitchFamily="34" charset="-120"/>
              </a:rPr>
              <a:t>Shared Infrastructure</a:t>
            </a:r>
            <a:endParaRPr lang="en-US" sz="900" dirty="0"/>
          </a:p>
        </p:txBody>
      </p:sp>
      <p:sp>
        <p:nvSpPr>
          <p:cNvPr id="25" name="Shape 23"/>
          <p:cNvSpPr/>
          <p:nvPr/>
        </p:nvSpPr>
        <p:spPr>
          <a:xfrm>
            <a:off x="4572000" y="3739976"/>
            <a:ext cx="4071119" cy="338361"/>
          </a:xfrm>
          <a:prstGeom prst="rect">
            <a:avLst/>
          </a:prstGeom>
          <a:solidFill>
            <a:srgbClr val="5E4CE6"/>
          </a:solidFill>
          <a:ln/>
        </p:spPr>
      </p:sp>
      <p:sp>
        <p:nvSpPr>
          <p:cNvPr id="26" name="Text 24"/>
          <p:cNvSpPr/>
          <p:nvPr/>
        </p:nvSpPr>
        <p:spPr>
          <a:xfrm>
            <a:off x="4694486" y="3814539"/>
            <a:ext cx="4285729" cy="189235"/>
          </a:xfrm>
          <a:prstGeom prst="rect">
            <a:avLst/>
          </a:prstGeom>
          <a:noFill/>
          <a:ln/>
        </p:spPr>
        <p:txBody>
          <a:bodyPr wrap="none" lIns="0" tIns="0" rIns="0" bIns="0" rtlCol="0" anchor="t"/>
          <a:lstStyle/>
          <a:p>
            <a:pPr algn="l" indent="0" marL="0">
              <a:lnSpc>
                <a:spcPct val="131000"/>
              </a:lnSpc>
              <a:buNone/>
            </a:pPr>
            <a:r>
              <a:rPr lang="en-US" sz="900" b="1" dirty="0">
                <a:solidFill>
                  <a:srgbClr val="FFFFFF"/>
                </a:solidFill>
                <a:latin typeface="Arimo" pitchFamily="34" charset="0"/>
                <a:ea typeface="Arimo" pitchFamily="34" charset="-122"/>
                <a:cs typeface="Arimo" pitchFamily="34" charset="-120"/>
              </a:rPr>
              <a:t>Cost (INR)</a:t>
            </a:r>
            <a:endParaRPr lang="en-US" sz="900" dirty="0"/>
          </a:p>
        </p:txBody>
      </p:sp>
      <p:sp>
        <p:nvSpPr>
          <p:cNvPr id="27" name="Shape 25"/>
          <p:cNvSpPr/>
          <p:nvPr/>
        </p:nvSpPr>
        <p:spPr>
          <a:xfrm>
            <a:off x="500881" y="4078337"/>
            <a:ext cx="8142238" cy="338361"/>
          </a:xfrm>
          <a:prstGeom prst="rect">
            <a:avLst/>
          </a:prstGeom>
          <a:solidFill>
            <a:srgbClr val="000000">
              <a:alpha val="4000"/>
            </a:srgbClr>
          </a:solidFill>
          <a:ln/>
        </p:spPr>
      </p:sp>
      <p:sp>
        <p:nvSpPr>
          <p:cNvPr id="28" name="Text 26"/>
          <p:cNvSpPr/>
          <p:nvPr/>
        </p:nvSpPr>
        <p:spPr>
          <a:xfrm>
            <a:off x="620985" y="4152900"/>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Beelink SER5 Mini‑PC</a:t>
            </a:r>
            <a:endParaRPr lang="en-US" sz="900" dirty="0"/>
          </a:p>
        </p:txBody>
      </p:sp>
      <p:sp>
        <p:nvSpPr>
          <p:cNvPr id="29" name="Text 27"/>
          <p:cNvSpPr/>
          <p:nvPr/>
        </p:nvSpPr>
        <p:spPr>
          <a:xfrm>
            <a:off x="4694486" y="4152900"/>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₹28,000</a:t>
            </a:r>
            <a:endParaRPr lang="en-US" sz="900" dirty="0"/>
          </a:p>
        </p:txBody>
      </p:sp>
      <p:sp>
        <p:nvSpPr>
          <p:cNvPr id="30" name="Shape 28"/>
          <p:cNvSpPr/>
          <p:nvPr/>
        </p:nvSpPr>
        <p:spPr>
          <a:xfrm>
            <a:off x="500881" y="4416698"/>
            <a:ext cx="8142238" cy="338361"/>
          </a:xfrm>
          <a:prstGeom prst="rect">
            <a:avLst/>
          </a:prstGeom>
          <a:solidFill>
            <a:srgbClr val="FFFFFF">
              <a:alpha val="4000"/>
            </a:srgbClr>
          </a:solidFill>
          <a:ln/>
        </p:spPr>
      </p:sp>
      <p:sp>
        <p:nvSpPr>
          <p:cNvPr id="31" name="Text 29"/>
          <p:cNvSpPr/>
          <p:nvPr/>
        </p:nvSpPr>
        <p:spPr>
          <a:xfrm>
            <a:off x="620985" y="4491261"/>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TP‑Link EAP225 Access Point</a:t>
            </a:r>
            <a:endParaRPr lang="en-US" sz="900" dirty="0"/>
          </a:p>
        </p:txBody>
      </p:sp>
      <p:sp>
        <p:nvSpPr>
          <p:cNvPr id="32" name="Text 30"/>
          <p:cNvSpPr/>
          <p:nvPr/>
        </p:nvSpPr>
        <p:spPr>
          <a:xfrm>
            <a:off x="4694486" y="4491261"/>
            <a:ext cx="4285729" cy="189235"/>
          </a:xfrm>
          <a:prstGeom prst="rect">
            <a:avLst/>
          </a:prstGeom>
          <a:noFill/>
          <a:ln/>
        </p:spPr>
        <p:txBody>
          <a:bodyPr wrap="none" lIns="0" tIns="0" rIns="0" bIns="0" rtlCol="0" anchor="t"/>
          <a:lstStyle/>
          <a:p>
            <a:pPr algn="l" indent="0" marL="0">
              <a:lnSpc>
                <a:spcPct val="131000"/>
              </a:lnSpc>
              <a:buNone/>
            </a:pPr>
            <a:r>
              <a:rPr lang="en-US" sz="900" dirty="0">
                <a:solidFill>
                  <a:srgbClr val="2A2742"/>
                </a:solidFill>
                <a:latin typeface="Arimo" pitchFamily="34" charset="0"/>
                <a:ea typeface="Arimo" pitchFamily="34" charset="-122"/>
                <a:cs typeface="Arimo" pitchFamily="34" charset="-120"/>
              </a:rPr>
              <a:t>₹5,059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0912" y="362992"/>
            <a:ext cx="5502399" cy="302865"/>
          </a:xfrm>
          <a:prstGeom prst="rect">
            <a:avLst/>
          </a:prstGeom>
          <a:noFill/>
          <a:ln/>
        </p:spPr>
        <p:txBody>
          <a:bodyPr wrap="none" lIns="0" tIns="0" rIns="0" bIns="0" rtlCol="0" anchor="t"/>
          <a:lstStyle/>
          <a:p>
            <a:pPr algn="l" indent="0" marL="0">
              <a:lnSpc>
                <a:spcPct val="104000"/>
              </a:lnSpc>
              <a:buNone/>
            </a:pPr>
            <a:r>
              <a:rPr lang="en-US" sz="1900" dirty="0">
                <a:solidFill>
                  <a:srgbClr val="231971"/>
                </a:solidFill>
                <a:latin typeface="Outfit ExtraBold" pitchFamily="34" charset="0"/>
                <a:ea typeface="Outfit ExtraBold" pitchFamily="34" charset="-122"/>
                <a:cs typeface="Outfit ExtraBold" pitchFamily="34" charset="-120"/>
              </a:rPr>
              <a:t>Proof of Concept, Social Impact &amp; Conclusion</a:t>
            </a:r>
            <a:endParaRPr lang="en-US" sz="1900" dirty="0"/>
          </a:p>
        </p:txBody>
      </p:sp>
      <p:sp>
        <p:nvSpPr>
          <p:cNvPr id="3" name="Shape 1"/>
          <p:cNvSpPr/>
          <p:nvPr/>
        </p:nvSpPr>
        <p:spPr>
          <a:xfrm>
            <a:off x="750912" y="817215"/>
            <a:ext cx="2496889" cy="1228353"/>
          </a:xfrm>
          <a:prstGeom prst="roundRect">
            <a:avLst>
              <a:gd name="adj" fmla="val 3314"/>
            </a:avLst>
          </a:prstGeom>
          <a:solidFill>
            <a:srgbClr val="E9E6FA"/>
          </a:solidFill>
          <a:ln w="4763">
            <a:solidFill>
              <a:srgbClr val="BDB8DF"/>
            </a:solidFill>
            <a:prstDash val="solid"/>
          </a:ln>
        </p:spPr>
      </p:sp>
      <p:sp>
        <p:nvSpPr>
          <p:cNvPr id="4" name="Text 2"/>
          <p:cNvSpPr/>
          <p:nvPr/>
        </p:nvSpPr>
        <p:spPr>
          <a:xfrm>
            <a:off x="852562" y="918865"/>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2A2742"/>
                </a:solidFill>
                <a:latin typeface="Outfit ExtraBold" pitchFamily="34" charset="0"/>
                <a:ea typeface="Outfit ExtraBold" pitchFamily="34" charset="-122"/>
                <a:cs typeface="Outfit ExtraBold" pitchFamily="34" charset="-120"/>
              </a:rPr>
              <a:t>Proof of Concept</a:t>
            </a:r>
            <a:endParaRPr lang="en-US" sz="950" dirty="0"/>
          </a:p>
        </p:txBody>
      </p:sp>
      <p:sp>
        <p:nvSpPr>
          <p:cNvPr id="5" name="Text 3"/>
          <p:cNvSpPr/>
          <p:nvPr/>
        </p:nvSpPr>
        <p:spPr>
          <a:xfrm>
            <a:off x="852562" y="1115690"/>
            <a:ext cx="2293590" cy="552152"/>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2A2742"/>
                </a:solidFill>
                <a:latin typeface="Arimo" pitchFamily="34" charset="0"/>
                <a:ea typeface="Arimo" pitchFamily="34" charset="-122"/>
                <a:cs typeface="Arimo" pitchFamily="34" charset="-120"/>
              </a:rPr>
              <a:t>Web demo: https://p2p-trading-nrj4iz7e0-abhirajs-projects-1d7aabae.vercel.app/ · Video demo: https://drive.google.com/file/d/17HzW5DpCWRaoFsLILpnOXY-AOs39rTaz/view</a:t>
            </a:r>
            <a:endParaRPr lang="en-US" sz="750" dirty="0"/>
          </a:p>
        </p:txBody>
      </p:sp>
      <p:sp>
        <p:nvSpPr>
          <p:cNvPr id="6" name="Shape 4"/>
          <p:cNvSpPr/>
          <p:nvPr/>
        </p:nvSpPr>
        <p:spPr>
          <a:xfrm>
            <a:off x="3323481" y="817215"/>
            <a:ext cx="2496889" cy="1228353"/>
          </a:xfrm>
          <a:prstGeom prst="roundRect">
            <a:avLst>
              <a:gd name="adj" fmla="val 3314"/>
            </a:avLst>
          </a:prstGeom>
          <a:solidFill>
            <a:srgbClr val="E9E6FA"/>
          </a:solidFill>
          <a:ln w="4763">
            <a:solidFill>
              <a:srgbClr val="BDB8DF"/>
            </a:solidFill>
            <a:prstDash val="solid"/>
          </a:ln>
        </p:spPr>
      </p:sp>
      <p:sp>
        <p:nvSpPr>
          <p:cNvPr id="7" name="Text 5"/>
          <p:cNvSpPr/>
          <p:nvPr/>
        </p:nvSpPr>
        <p:spPr>
          <a:xfrm>
            <a:off x="3425130" y="918865"/>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2A2742"/>
                </a:solidFill>
                <a:latin typeface="Outfit ExtraBold" pitchFamily="34" charset="0"/>
                <a:ea typeface="Outfit ExtraBold" pitchFamily="34" charset="-122"/>
                <a:cs typeface="Outfit ExtraBold" pitchFamily="34" charset="-120"/>
              </a:rPr>
              <a:t>Social Impact</a:t>
            </a:r>
            <a:endParaRPr lang="en-US" sz="950" dirty="0"/>
          </a:p>
        </p:txBody>
      </p:sp>
      <p:sp>
        <p:nvSpPr>
          <p:cNvPr id="8" name="Text 6"/>
          <p:cNvSpPr/>
          <p:nvPr/>
        </p:nvSpPr>
        <p:spPr>
          <a:xfrm>
            <a:off x="3425130" y="1115690"/>
            <a:ext cx="2293590" cy="828229"/>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2A2742"/>
                </a:solidFill>
                <a:latin typeface="Arimo" pitchFamily="34" charset="0"/>
                <a:ea typeface="Arimo" pitchFamily="34" charset="-122"/>
                <a:cs typeface="Arimo" pitchFamily="34" charset="-120"/>
              </a:rPr>
              <a:t>Reduces renewable energy wastage, lowers household electricity costs, promotes community energy independence, preserves privacy via federated learning and builds trust through transparent blockchain settlements — supporting India’s clean energy goals.</a:t>
            </a:r>
            <a:endParaRPr lang="en-US" sz="750" dirty="0"/>
          </a:p>
        </p:txBody>
      </p:sp>
      <p:sp>
        <p:nvSpPr>
          <p:cNvPr id="9" name="Shape 7"/>
          <p:cNvSpPr/>
          <p:nvPr/>
        </p:nvSpPr>
        <p:spPr>
          <a:xfrm>
            <a:off x="5896049" y="817215"/>
            <a:ext cx="2496889" cy="1228353"/>
          </a:xfrm>
          <a:prstGeom prst="roundRect">
            <a:avLst>
              <a:gd name="adj" fmla="val 3314"/>
            </a:avLst>
          </a:prstGeom>
          <a:solidFill>
            <a:srgbClr val="E9E6FA"/>
          </a:solidFill>
          <a:ln w="4763">
            <a:solidFill>
              <a:srgbClr val="BDB8DF"/>
            </a:solidFill>
            <a:prstDash val="solid"/>
          </a:ln>
        </p:spPr>
      </p:sp>
      <p:sp>
        <p:nvSpPr>
          <p:cNvPr id="10" name="Text 8"/>
          <p:cNvSpPr/>
          <p:nvPr/>
        </p:nvSpPr>
        <p:spPr>
          <a:xfrm>
            <a:off x="5997699" y="918865"/>
            <a:ext cx="1211387" cy="151433"/>
          </a:xfrm>
          <a:prstGeom prst="rect">
            <a:avLst/>
          </a:prstGeom>
          <a:noFill/>
          <a:ln/>
        </p:spPr>
        <p:txBody>
          <a:bodyPr wrap="none" lIns="0" tIns="0" rIns="0" bIns="0" rtlCol="0" anchor="t"/>
          <a:lstStyle/>
          <a:p>
            <a:pPr algn="l" indent="0" marL="0">
              <a:lnSpc>
                <a:spcPct val="104000"/>
              </a:lnSpc>
              <a:buNone/>
            </a:pPr>
            <a:r>
              <a:rPr lang="en-US" sz="950" dirty="0">
                <a:solidFill>
                  <a:srgbClr val="2A2742"/>
                </a:solidFill>
                <a:latin typeface="Outfit ExtraBold" pitchFamily="34" charset="0"/>
                <a:ea typeface="Outfit ExtraBold" pitchFamily="34" charset="-122"/>
                <a:cs typeface="Outfit ExtraBold" pitchFamily="34" charset="-120"/>
              </a:rPr>
              <a:t>Conclusion</a:t>
            </a:r>
            <a:endParaRPr lang="en-US" sz="950" dirty="0"/>
          </a:p>
        </p:txBody>
      </p:sp>
      <p:sp>
        <p:nvSpPr>
          <p:cNvPr id="11" name="Text 9"/>
          <p:cNvSpPr/>
          <p:nvPr/>
        </p:nvSpPr>
        <p:spPr>
          <a:xfrm>
            <a:off x="5997699" y="1115690"/>
            <a:ext cx="2293590" cy="828229"/>
          </a:xfrm>
          <a:prstGeom prst="rect">
            <a:avLst/>
          </a:prstGeom>
          <a:noFill/>
          <a:ln/>
        </p:spPr>
        <p:txBody>
          <a:bodyPr wrap="square" lIns="0" tIns="0" rIns="0" bIns="0" rtlCol="0" anchor="t">
            <a:normAutofit/>
          </a:bodyPr>
          <a:lstStyle/>
          <a:p>
            <a:pPr algn="l" indent="0" marL="0">
              <a:lnSpc>
                <a:spcPct val="119000"/>
              </a:lnSpc>
              <a:buNone/>
            </a:pPr>
            <a:r>
              <a:rPr lang="en-US" sz="750" dirty="0">
                <a:solidFill>
                  <a:srgbClr val="2A2742"/>
                </a:solidFill>
                <a:latin typeface="Arimo" pitchFamily="34" charset="0"/>
                <a:ea typeface="Arimo" pitchFamily="34" charset="-122"/>
                <a:cs typeface="Arimo" pitchFamily="34" charset="-120"/>
              </a:rPr>
              <a:t>By combining Edge Computing, Multi‑Agent AI, Federated Learning, IoT sensing, Satellite Analytics, Power‑system Optimization and Blockchain, the platform enables real‑time local energy exchange, reduces waste, improves efficiency and accelerates residential adoption of sustainable energy.</a:t>
            </a:r>
            <a:endParaRPr lang="en-US" sz="750" dirty="0"/>
          </a:p>
        </p:txBody>
      </p:sp>
      <p:pic>
        <p:nvPicPr>
          <p:cNvPr id="12" name="Image 0" descr="preencoded.png">    </p:cNvPr>
          <p:cNvPicPr>
            <a:picLocks noChangeAspect="1"/>
          </p:cNvPicPr>
          <p:nvPr/>
        </p:nvPicPr>
        <p:blipFill>
          <a:blip r:embed="rId1"/>
          <a:stretch>
            <a:fillRect/>
          </a:stretch>
        </p:blipFill>
        <p:spPr>
          <a:xfrm>
            <a:off x="755675" y="2194545"/>
            <a:ext cx="2492499" cy="2492499"/>
          </a:xfrm>
          <a:prstGeom prst="rect">
            <a:avLst/>
          </a:prstGeom>
        </p:spPr>
      </p:pic>
      <p:pic>
        <p:nvPicPr>
          <p:cNvPr id="13" name="Image 1" descr="preencoded.png">    </p:cNvPr>
          <p:cNvPicPr>
            <a:picLocks noChangeAspect="1"/>
          </p:cNvPicPr>
          <p:nvPr/>
        </p:nvPicPr>
        <p:blipFill>
          <a:blip r:embed="rId2"/>
          <a:stretch>
            <a:fillRect/>
          </a:stretch>
        </p:blipFill>
        <p:spPr>
          <a:xfrm>
            <a:off x="3325639" y="2194545"/>
            <a:ext cx="2492573" cy="2492573"/>
          </a:xfrm>
          <a:prstGeom prst="rect">
            <a:avLst/>
          </a:prstGeom>
        </p:spPr>
      </p:pic>
      <p:pic>
        <p:nvPicPr>
          <p:cNvPr id="14" name="Image 2" descr="preencoded.png">    </p:cNvPr>
          <p:cNvPicPr>
            <a:picLocks noChangeAspect="1"/>
          </p:cNvPicPr>
          <p:nvPr/>
        </p:nvPicPr>
        <p:blipFill>
          <a:blip r:embed="rId3"/>
          <a:stretch>
            <a:fillRect/>
          </a:stretch>
        </p:blipFill>
        <p:spPr>
          <a:xfrm>
            <a:off x="5895677" y="2194545"/>
            <a:ext cx="2492573" cy="24925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2026-06-13T08:14:34Z</dcterms:created>
  <dcterms:modified xsi:type="dcterms:W3CDTF">2026-06-13T08:14:34Z</dcterms:modified>
</cp:coreProperties>
</file>