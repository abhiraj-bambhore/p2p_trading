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7"/>
  </p:notesMasterIdLst>
  <p:sldIdLst>
    <p:sldId id="262" r:id="rId2"/>
    <p:sldId id="263" r:id="rId3"/>
    <p:sldId id="266" r:id="rId4"/>
    <p:sldId id="264" r:id="rId5"/>
    <p:sldId id="265" r:id="rId6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937AB2-A330-4412-99FE-3BF1B5EB5703}" v="4" dt="2026-06-26T10:31:35.150"/>
    <p1510:client id="{4E50BAD9-C631-B038-2B7B-D3FEFBFC36F3}" v="1" dt="2026-06-26T10:05:53.498"/>
    <p1510:client id="{54E4C04D-3F8A-E0E3-934D-921FC2E29216}" v="1" dt="2026-06-26T09:48:34.585"/>
    <p1510:client id="{E1859028-0CC4-8F03-7393-12085B3AB84E}" v="2" dt="2026-06-26T10:26:34.9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>
        <p:scale>
          <a:sx n="63" d="100"/>
          <a:sy n="63" d="100"/>
        </p:scale>
        <p:origin x="78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hyperlink" Target="https://p2p-trading-nrj4iz7e0-abhirajs-projects-1d7aabae.vercel.app/" TargetMode="Externa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9"/>
          <p:cNvSpPr/>
          <p:nvPr/>
        </p:nvSpPr>
        <p:spPr>
          <a:xfrm>
            <a:off x="795528" y="2235200"/>
            <a:ext cx="1602232" cy="153416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9"/>
          <p:cNvSpPr/>
          <p:nvPr/>
        </p:nvSpPr>
        <p:spPr>
          <a:xfrm>
            <a:off x="2487168" y="21488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Trebuchet MS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2487168" y="2341880"/>
            <a:ext cx="9024112" cy="103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rebuchet MS"/>
              <a:buNone/>
            </a:pPr>
            <a:r>
              <a:rPr lang="en-US" sz="4400" b="0" i="0" u="none" strike="noStrike" cap="none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Miragex</a:t>
            </a:r>
            <a:r>
              <a:rPr lang="en-US" sz="44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- A Multi-Agentic Energy Trading Platform</a:t>
            </a:r>
          </a:p>
        </p:txBody>
      </p:sp>
      <p:sp>
        <p:nvSpPr>
          <p:cNvPr id="136" name="Google Shape;136;p9"/>
          <p:cNvSpPr/>
          <p:nvPr/>
        </p:nvSpPr>
        <p:spPr>
          <a:xfrm>
            <a:off x="2487168" y="385572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libri"/>
              <a:buNone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A decentralized platform that lets homes with solar panels sell surplus energy directly to nearby neighbors who need it</a:t>
            </a:r>
            <a:endParaRPr sz="1600" b="0" i="0" u="none" strike="noStrike" cap="none" dirty="0">
              <a:solidFill>
                <a:schemeClr val="bg1">
                  <a:lumMod val="8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91BAD7-BCAD-4596-BC0D-EAA8F738F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160" y="2509520"/>
            <a:ext cx="1046480" cy="919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"/>
          <p:cNvSpPr/>
          <p:nvPr/>
        </p:nvSpPr>
        <p:spPr>
          <a:xfrm>
            <a:off x="548640" y="2011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50"/>
              <a:buFont typeface="Trebuchet MS"/>
              <a:buNone/>
            </a:pPr>
            <a:r>
              <a:rPr lang="en-US" sz="1050" b="1" i="0" u="none" strike="noStrike" cap="none" dirty="0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 MIRAGEX •  SLIDE 1 OF 3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0"/>
          <p:cNvSpPr/>
          <p:nvPr/>
        </p:nvSpPr>
        <p:spPr>
          <a:xfrm>
            <a:off x="505968" y="36322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500"/>
              <a:buFont typeface="Trebuchet MS"/>
              <a:buNone/>
            </a:pPr>
            <a:r>
              <a:rPr lang="en-US" sz="2500" b="1" i="0" u="none" strike="noStrike" cap="none" dirty="0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How MIRAGEX works on the field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489204" y="815848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5" name="Google Shape;145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579120" y="888492"/>
            <a:ext cx="213360" cy="21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0"/>
          <p:cNvSpPr/>
          <p:nvPr/>
        </p:nvSpPr>
        <p:spPr>
          <a:xfrm>
            <a:off x="882396" y="783336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Trebuchet MS"/>
              <a:buNone/>
            </a:pPr>
            <a:r>
              <a:rPr lang="en-US" sz="1800" b="1" i="0" u="none" strike="noStrike" cap="none" dirty="0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User journey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579120" y="1303020"/>
            <a:ext cx="2606040" cy="1234440"/>
          </a:xfrm>
          <a:prstGeom prst="rect">
            <a:avLst/>
          </a:prstGeom>
          <a:solidFill>
            <a:srgbClr val="F1F5F9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0"/>
          <p:cNvSpPr/>
          <p:nvPr/>
        </p:nvSpPr>
        <p:spPr>
          <a:xfrm>
            <a:off x="484632" y="1379728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200"/>
              <a:buFont typeface="Trebuchet MS"/>
              <a:buNone/>
            </a:pPr>
            <a:r>
              <a:rPr lang="en-US" sz="2200" b="1" i="0" u="none" strike="noStrike" cap="none" dirty="0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0"/>
          <p:cNvSpPr/>
          <p:nvPr/>
        </p:nvSpPr>
        <p:spPr>
          <a:xfrm>
            <a:off x="757428" y="1545336"/>
            <a:ext cx="2377440" cy="92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/>
            <a:r>
              <a:rPr lang="en-US" sz="1600" b="1" i="0" dirty="0">
                <a:solidFill>
                  <a:srgbClr val="0B0B0B"/>
                </a:solidFill>
                <a:effectLst/>
                <a:latin typeface="Anthropic Sans"/>
              </a:rPr>
              <a:t>Sensor reads energy</a:t>
            </a:r>
          </a:p>
          <a:p>
            <a:pPr algn="l"/>
            <a:r>
              <a:rPr lang="en-US" sz="1600" b="0" i="0" dirty="0">
                <a:solidFill>
                  <a:schemeClr val="tx1"/>
                </a:solidFill>
                <a:effectLst/>
                <a:latin typeface="Anthropic Sans"/>
              </a:rPr>
              <a:t>PZEM-004T measures voltage, current, and power at each home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66364" y="188239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0"/>
          <p:cNvSpPr/>
          <p:nvPr/>
        </p:nvSpPr>
        <p:spPr>
          <a:xfrm>
            <a:off x="3403346" y="1330452"/>
            <a:ext cx="2606040" cy="1234440"/>
          </a:xfrm>
          <a:prstGeom prst="rect">
            <a:avLst/>
          </a:prstGeom>
          <a:solidFill>
            <a:srgbClr val="F1F5F9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0"/>
          <p:cNvSpPr/>
          <p:nvPr/>
        </p:nvSpPr>
        <p:spPr>
          <a:xfrm>
            <a:off x="3470148" y="1391920"/>
            <a:ext cx="47548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200"/>
              <a:buFont typeface="Trebuchet MS"/>
              <a:buNone/>
            </a:pPr>
            <a:r>
              <a:rPr lang="en-US" sz="2200" b="1" i="0" u="none" strike="noStrike" cap="none" dirty="0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3728720" y="1707388"/>
            <a:ext cx="234746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/>
            <a:r>
              <a:rPr lang="en-US" sz="1600" b="1" i="0" dirty="0">
                <a:solidFill>
                  <a:srgbClr val="0B0B0B"/>
                </a:solidFill>
                <a:effectLst/>
                <a:latin typeface="Anthropic Sans"/>
              </a:rPr>
              <a:t>Data reaches server</a:t>
            </a:r>
          </a:p>
          <a:p>
            <a:pPr algn="l"/>
            <a:r>
              <a:rPr lang="en-US" sz="1600" b="0" i="0" dirty="0">
                <a:solidFill>
                  <a:schemeClr val="tx1"/>
                </a:solidFill>
                <a:effectLst/>
                <a:latin typeface="Anthropic Sans"/>
              </a:rPr>
              <a:t>ESP32 sends readings to the cluster server; solar and demand are forecast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53328" y="186969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0"/>
          <p:cNvSpPr/>
          <p:nvPr/>
        </p:nvSpPr>
        <p:spPr>
          <a:xfrm>
            <a:off x="6252210" y="1330452"/>
            <a:ext cx="2606040" cy="1234440"/>
          </a:xfrm>
          <a:prstGeom prst="rect">
            <a:avLst/>
          </a:prstGeom>
          <a:solidFill>
            <a:srgbClr val="F1F5F9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0"/>
          <p:cNvSpPr/>
          <p:nvPr/>
        </p:nvSpPr>
        <p:spPr>
          <a:xfrm>
            <a:off x="6240272" y="1447292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200"/>
              <a:buFont typeface="Trebuchet MS"/>
              <a:buNone/>
            </a:pPr>
            <a:r>
              <a:rPr lang="en-US" sz="2200" b="1" i="0" u="none" strike="noStrike" cap="none" dirty="0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6473444" y="1748917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/>
            <a:r>
              <a:rPr lang="en-US" sz="1600" b="1" i="0" dirty="0">
                <a:solidFill>
                  <a:srgbClr val="0B0B0B"/>
                </a:solidFill>
                <a:effectLst/>
                <a:latin typeface="Anthropic Sans"/>
              </a:rPr>
              <a:t>Agents negotiate</a:t>
            </a:r>
          </a:p>
          <a:p>
            <a:pPr algn="l"/>
            <a:r>
              <a:rPr lang="en-US" sz="1600" b="0" i="0" dirty="0">
                <a:solidFill>
                  <a:schemeClr val="tx1"/>
                </a:solidFill>
                <a:effectLst/>
                <a:latin typeface="Anthropic Sans"/>
              </a:rPr>
              <a:t>AI agents match buyers and sellers; grid safety is validated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87968" y="187375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0"/>
          <p:cNvSpPr/>
          <p:nvPr/>
        </p:nvSpPr>
        <p:spPr>
          <a:xfrm>
            <a:off x="9101074" y="1298448"/>
            <a:ext cx="2606040" cy="1266444"/>
          </a:xfrm>
          <a:prstGeom prst="rect">
            <a:avLst/>
          </a:prstGeom>
          <a:solidFill>
            <a:srgbClr val="F1F5F9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0"/>
          <p:cNvSpPr/>
          <p:nvPr/>
        </p:nvSpPr>
        <p:spPr>
          <a:xfrm>
            <a:off x="9081262" y="1379728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200"/>
              <a:buFont typeface="Trebuchet MS"/>
              <a:buNone/>
            </a:pPr>
            <a:r>
              <a:rPr lang="en-US" sz="2200" b="1" i="0" u="none" strike="noStrike" cap="none" dirty="0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9320022" y="1571752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/>
            <a:endParaRPr lang="en-US" sz="1600" b="0" i="0" dirty="0">
              <a:solidFill>
                <a:schemeClr val="tx1"/>
              </a:solidFill>
              <a:effectLst/>
              <a:latin typeface="Anthropic Sans"/>
            </a:endParaRPr>
          </a:p>
          <a:p>
            <a:pPr algn="l"/>
            <a:r>
              <a:rPr lang="en-US" sz="1600" b="1" i="0" dirty="0">
                <a:solidFill>
                  <a:schemeClr val="tx1"/>
                </a:solidFill>
                <a:effectLst/>
                <a:latin typeface="Anthropic Sans"/>
              </a:rPr>
              <a:t>Trade settles</a:t>
            </a:r>
          </a:p>
          <a:p>
            <a:pPr algn="l"/>
            <a:r>
              <a:rPr lang="en-US" sz="1600" b="0" i="0" dirty="0">
                <a:solidFill>
                  <a:schemeClr val="tx1"/>
                </a:solidFill>
                <a:effectLst/>
                <a:latin typeface="Anthropic Sans"/>
              </a:rPr>
              <a:t>Approved trade is recorded on the local blockchain in real time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endParaRPr sz="115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505968" y="2818420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3" name="Google Shape;163;p1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 flipV="1">
            <a:off x="640080" y="2825376"/>
            <a:ext cx="117348" cy="27127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0"/>
          <p:cNvSpPr/>
          <p:nvPr/>
        </p:nvSpPr>
        <p:spPr>
          <a:xfrm>
            <a:off x="932688" y="2771902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Trebuchet MS"/>
              <a:buNone/>
            </a:pPr>
            <a:r>
              <a:rPr lang="en-US" sz="1800" b="1" i="0" u="none" strike="noStrike" cap="none" dirty="0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Deployment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896112" y="3285624"/>
            <a:ext cx="105156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Anthropic Sans"/>
              </a:rPr>
              <a:t>Beelink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Anthropic Sans"/>
              </a:rPr>
              <a:t> SER5 cluster server, with an ESP32, a PZEM-004T sensor, and a relay module at each home, connected over a local TP-Link EAP225 Wi-Fi network. Trades settle on a local Hardhat Ethereum node. Internet is used only to fetch Sentinel-2 satellite data periodically.</a:t>
            </a:r>
            <a:endParaRPr sz="18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548640" y="4434840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0080" y="452628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0"/>
          <p:cNvSpPr/>
          <p:nvPr/>
        </p:nvSpPr>
        <p:spPr>
          <a:xfrm>
            <a:off x="1051560" y="4398264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Trebuchet MS"/>
              <a:buNone/>
            </a:pPr>
            <a:r>
              <a:rPr lang="en-US" sz="1800" b="1" i="0" u="none" strike="noStrike" cap="none" dirty="0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Metrics &amp; impact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548640" y="4946904"/>
            <a:ext cx="2029968" cy="1234440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0"/>
          <p:cNvSpPr/>
          <p:nvPr/>
        </p:nvSpPr>
        <p:spPr>
          <a:xfrm>
            <a:off x="548640" y="4937760"/>
            <a:ext cx="202996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505968" y="5102352"/>
            <a:ext cx="20299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600"/>
              <a:buFont typeface="Trebuchet MS"/>
              <a:buNone/>
            </a:pPr>
            <a:r>
              <a:rPr lang="en-US" sz="2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22.5%</a:t>
            </a:r>
            <a:endParaRPr sz="2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640080" y="5687568"/>
            <a:ext cx="184708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600" b="1" i="0" dirty="0">
                <a:solidFill>
                  <a:schemeClr val="tx1"/>
                </a:solidFill>
                <a:effectLst/>
                <a:latin typeface="Anthropic Sans"/>
              </a:rPr>
              <a:t>cluster efficiency gain</a:t>
            </a:r>
            <a:endParaRPr sz="1600"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2764536" y="4990592"/>
            <a:ext cx="2029968" cy="1234440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0"/>
          <p:cNvSpPr/>
          <p:nvPr/>
        </p:nvSpPr>
        <p:spPr>
          <a:xfrm>
            <a:off x="2807208" y="4937760"/>
            <a:ext cx="202996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2807208" y="5102352"/>
            <a:ext cx="20299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600"/>
              <a:buFont typeface="Trebuchet MS"/>
              <a:buNone/>
            </a:pPr>
            <a:r>
              <a:rPr lang="en-US" sz="2600" b="1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20%</a:t>
            </a:r>
            <a:endParaRPr sz="26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2898648" y="5687568"/>
            <a:ext cx="184708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600" b="1" i="0" dirty="0">
                <a:solidFill>
                  <a:schemeClr val="tx1"/>
                </a:solidFill>
                <a:effectLst/>
                <a:latin typeface="Anthropic Sans"/>
              </a:rPr>
              <a:t>solar curtailment reduction</a:t>
            </a:r>
            <a:endParaRPr sz="1600"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5070602" y="4973272"/>
            <a:ext cx="2029968" cy="1234440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0"/>
          <p:cNvSpPr/>
          <p:nvPr/>
        </p:nvSpPr>
        <p:spPr>
          <a:xfrm>
            <a:off x="5065776" y="4937760"/>
            <a:ext cx="202996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5065776" y="5102352"/>
            <a:ext cx="20299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600"/>
              <a:buFont typeface="Trebuchet MS"/>
              <a:buNone/>
            </a:pPr>
            <a:r>
              <a:rPr lang="en-US" sz="2600" b="1" dirty="0">
                <a:solidFill>
                  <a:schemeClr val="tx1"/>
                </a:solidFill>
                <a:latin typeface="Trebuchet MS"/>
                <a:ea typeface="Calibri"/>
                <a:cs typeface="Calibri"/>
                <a:sym typeface="Trebuchet MS"/>
              </a:rPr>
              <a:t>340 </a:t>
            </a:r>
            <a:r>
              <a:rPr lang="en-US" sz="2600" b="1" dirty="0" err="1">
                <a:solidFill>
                  <a:schemeClr val="tx1"/>
                </a:solidFill>
                <a:latin typeface="Trebuchet MS"/>
                <a:ea typeface="Calibri"/>
                <a:cs typeface="Calibri"/>
                <a:sym typeface="Trebuchet MS"/>
              </a:rPr>
              <a:t>ms</a:t>
            </a:r>
            <a:endParaRPr sz="26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5152644" y="5669280"/>
            <a:ext cx="184708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600" b="1" i="0" dirty="0">
                <a:solidFill>
                  <a:schemeClr val="tx1"/>
                </a:solidFill>
                <a:effectLst/>
                <a:latin typeface="Anthropic Sans"/>
              </a:rPr>
              <a:t>average trade latency</a:t>
            </a:r>
            <a:endParaRPr sz="1600"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7324344" y="4990592"/>
            <a:ext cx="2029968" cy="1234440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7324344" y="4937760"/>
            <a:ext cx="202996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7324344" y="5102352"/>
            <a:ext cx="20299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600"/>
              <a:buFont typeface="Trebuchet MS"/>
              <a:buNone/>
            </a:pPr>
            <a:r>
              <a:rPr lang="en-US" sz="26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0.18 kWh</a:t>
            </a:r>
          </a:p>
        </p:txBody>
      </p:sp>
      <p:sp>
        <p:nvSpPr>
          <p:cNvPr id="184" name="Google Shape;184;p10"/>
          <p:cNvSpPr/>
          <p:nvPr/>
        </p:nvSpPr>
        <p:spPr>
          <a:xfrm>
            <a:off x="7433818" y="5641800"/>
            <a:ext cx="184708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600" b="1" i="0" dirty="0">
                <a:solidFill>
                  <a:schemeClr val="tx1"/>
                </a:solidFill>
                <a:effectLst/>
                <a:latin typeface="Anthropic Sans"/>
              </a:rPr>
              <a:t>forecast error (MAE)</a:t>
            </a:r>
            <a:endParaRPr sz="1600"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9582912" y="4937760"/>
            <a:ext cx="2029968" cy="1234440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9582912" y="4937760"/>
            <a:ext cx="202996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0"/>
          <p:cNvSpPr/>
          <p:nvPr/>
        </p:nvSpPr>
        <p:spPr>
          <a:xfrm>
            <a:off x="9582912" y="5102352"/>
            <a:ext cx="20299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600"/>
              <a:buFont typeface="Trebuchet MS"/>
              <a:buNone/>
            </a:pPr>
            <a:r>
              <a:rPr lang="en-US" sz="2600" b="1" dirty="0">
                <a:solidFill>
                  <a:schemeClr val="tx1"/>
                </a:solidFill>
                <a:latin typeface="Trebuchet MS"/>
                <a:ea typeface="Calibri"/>
                <a:cs typeface="Calibri"/>
                <a:sym typeface="Trebuchet MS"/>
              </a:rPr>
              <a:t>FULL</a:t>
            </a:r>
            <a:endParaRPr sz="26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9674352" y="5687568"/>
            <a:ext cx="184708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600" b="1" i="0" dirty="0">
                <a:solidFill>
                  <a:schemeClr val="tx1"/>
                </a:solidFill>
                <a:effectLst/>
                <a:latin typeface="Anthropic Sans"/>
              </a:rPr>
              <a:t>data privacy compliance</a:t>
            </a:r>
            <a:endParaRPr sz="1600"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88FEF8-3801-4A67-9F58-71C0EA64B994}"/>
              </a:ext>
            </a:extLst>
          </p:cNvPr>
          <p:cNvSpPr txBox="1"/>
          <p:nvPr/>
        </p:nvSpPr>
        <p:spPr>
          <a:xfrm>
            <a:off x="284480" y="223520"/>
            <a:ext cx="46431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1E293B"/>
                </a:solidFill>
                <a:latin typeface="Trebuchet MS"/>
                <a:ea typeface="Calibri"/>
                <a:cs typeface="Calibri"/>
                <a:sym typeface="Trebuchet MS"/>
              </a:rPr>
              <a:t>Hardware </a:t>
            </a:r>
            <a:r>
              <a:rPr lang="en-US" sz="2000" b="1" dirty="0">
                <a:solidFill>
                  <a:srgbClr val="1E293B"/>
                </a:solidFill>
                <a:latin typeface="Trebuchet MS"/>
                <a:ea typeface="Calibri"/>
                <a:cs typeface="Calibri"/>
                <a:sym typeface="Trebuchet MS"/>
              </a:rPr>
              <a:t>Architecture</a:t>
            </a:r>
            <a:r>
              <a:rPr lang="en-US" sz="1800" b="1" dirty="0">
                <a:solidFill>
                  <a:srgbClr val="1E293B"/>
                </a:solidFill>
                <a:latin typeface="Trebuchet MS"/>
                <a:ea typeface="Calibri"/>
                <a:cs typeface="Calibri"/>
                <a:sym typeface="Trebuchet MS"/>
              </a:rPr>
              <a:t>:</a:t>
            </a:r>
            <a:endParaRPr lang="en-US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4A495D-BE6D-45A3-B5C2-362AF8792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0" y="751840"/>
            <a:ext cx="11750040" cy="6106160"/>
          </a:xfrm>
          <a:prstGeom prst="rect">
            <a:avLst/>
          </a:prstGeom>
        </p:spPr>
      </p:pic>
      <p:sp>
        <p:nvSpPr>
          <p:cNvPr id="10" name="Google Shape;131;p9">
            <a:extLst>
              <a:ext uri="{FF2B5EF4-FFF2-40B4-BE49-F238E27FC236}">
                <a16:creationId xmlns:a16="http://schemas.microsoft.com/office/drawing/2014/main" id="{F9BA6484-3797-4B3C-A259-E41EDDA4FB6D}"/>
              </a:ext>
            </a:extLst>
          </p:cNvPr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1210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"/>
          <p:cNvSpPr/>
          <p:nvPr/>
        </p:nvSpPr>
        <p:spPr>
          <a:xfrm>
            <a:off x="452120" y="88647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50"/>
              <a:buFont typeface="Trebuchet MS"/>
              <a:buNone/>
            </a:pPr>
            <a:r>
              <a:rPr lang="en-US" sz="1050" b="1" i="0" u="none" strike="noStrike" cap="none" dirty="0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050" b="1" dirty="0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MIRAGEX</a:t>
            </a:r>
            <a:r>
              <a:rPr lang="en-US" sz="1050" b="1" i="0" u="none" strike="noStrike" cap="none" dirty="0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  •  SLIDE 2 OF 3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411480" y="227077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500"/>
              <a:buFont typeface="Trebuchet MS"/>
              <a:buNone/>
            </a:pPr>
            <a:r>
              <a:rPr lang="en-US" sz="2500" b="1" dirty="0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P</a:t>
            </a:r>
            <a:r>
              <a:rPr lang="en-US" sz="2500" b="1" i="0" u="none" strike="noStrike" cap="none" dirty="0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roduct - Prototype Stage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38160" y="162763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1"/>
          <p:cNvSpPr/>
          <p:nvPr/>
        </p:nvSpPr>
        <p:spPr>
          <a:xfrm>
            <a:off x="8641080" y="155448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Try the live app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38160" y="3639312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38160" y="4297680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38160" y="4956048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38160" y="5614416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00C3019-18F3-4541-8072-20041445E6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" y="701040"/>
            <a:ext cx="6878320" cy="30754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1D4CBB-A8D3-4319-8708-DE952C8D87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0240" y="3443224"/>
            <a:ext cx="5085080" cy="34147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E2AF85-DAEA-4D0B-9B21-693149EFB4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0240" y="28446"/>
            <a:ext cx="5110480" cy="34147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41C5F6-46E7-4933-BA99-2ABB689A7E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80" y="3776472"/>
            <a:ext cx="6878320" cy="30815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"/>
          <p:cNvSpPr/>
          <p:nvPr/>
        </p:nvSpPr>
        <p:spPr>
          <a:xfrm>
            <a:off x="548640" y="2297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50"/>
              <a:buFont typeface="Trebuchet MS"/>
              <a:buNone/>
            </a:pPr>
            <a:r>
              <a:rPr lang="en-US" sz="1050" b="1" i="0" u="none" strike="noStrike" cap="none" dirty="0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050" b="1" dirty="0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MIRAGEX</a:t>
            </a:r>
            <a:r>
              <a:rPr lang="en-US" sz="1050" b="1" i="0" u="none" strike="noStrike" cap="none" dirty="0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 •  SLIDE 3 OF 3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500"/>
              <a:buFont typeface="Trebuchet MS"/>
              <a:buNone/>
            </a:pPr>
            <a:r>
              <a:rPr lang="en-US" sz="2500" b="1" i="0" u="none" strike="noStrike" cap="non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Proof on the field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548640" y="1042416"/>
            <a:ext cx="4754880" cy="54864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12" name="Google Shape;212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7538" y="1152145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2"/>
          <p:cNvSpPr/>
          <p:nvPr/>
        </p:nvSpPr>
        <p:spPr>
          <a:xfrm>
            <a:off x="1082204" y="1024129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lang="en-US" sz="14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STATUS:  </a:t>
            </a:r>
            <a:r>
              <a:rPr lang="en-US" b="1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US" sz="14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oftware  </a:t>
            </a:r>
            <a:r>
              <a:rPr lang="en-US" b="1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Prototype </a:t>
            </a:r>
            <a:r>
              <a:rPr lang="en-US" sz="14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Deployed &amp; in </a:t>
            </a:r>
            <a:r>
              <a:rPr lang="en-US" b="1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</a:t>
            </a:r>
            <a:r>
              <a:rPr lang="en-US" sz="14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ctive Use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77865" y="5372090"/>
            <a:ext cx="5532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6993840" y="1874519"/>
            <a:ext cx="119060" cy="3973601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6" name="Google Shape;216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84720" y="1872234"/>
            <a:ext cx="325120" cy="27426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2"/>
          <p:cNvSpPr/>
          <p:nvPr/>
        </p:nvSpPr>
        <p:spPr>
          <a:xfrm>
            <a:off x="7204340" y="2464309"/>
            <a:ext cx="4855580" cy="17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800" b="1" dirty="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Miragex</a:t>
            </a:r>
            <a:r>
              <a:rPr lang="en-US" sz="1800" dirty="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isn't just a software project; it's a solution to India's </a:t>
            </a:r>
            <a:r>
              <a:rPr lang="en-US" sz="1800" b="1" dirty="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₹600 Crore solar wastage problem. </a:t>
            </a:r>
            <a:r>
              <a:rPr lang="en-US" sz="1800" dirty="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By combining Agentic AI with Edge Privacy, we are creating a self-healing, profitable energy network for a sustainable future.</a:t>
            </a:r>
            <a:endParaRPr sz="18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7112900" y="5006280"/>
            <a:ext cx="475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 txBox="1"/>
          <p:nvPr/>
        </p:nvSpPr>
        <p:spPr>
          <a:xfrm>
            <a:off x="213360" y="6091033"/>
            <a:ext cx="582168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hlinkClick r:id="rId5"/>
              </a:rPr>
              <a:t>Flux-Agent | Autonomous P2P Solar Energy Trading — India</a:t>
            </a:r>
            <a:endParaRPr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38E7A04-7AAF-4434-A473-8F01807733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65" y="1874520"/>
            <a:ext cx="6824535" cy="39736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3F8CF7D-FB26-4793-97C1-ECA9B187DBEA}"/>
              </a:ext>
            </a:extLst>
          </p:cNvPr>
          <p:cNvSpPr txBox="1"/>
          <p:nvPr/>
        </p:nvSpPr>
        <p:spPr>
          <a:xfrm>
            <a:off x="213360" y="5848121"/>
            <a:ext cx="187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Live demo: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276</Words>
  <Application>Microsoft Office PowerPoint</Application>
  <PresentationFormat>Widescreen</PresentationFormat>
  <Paragraphs>45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Anthropic Sans</vt:lpstr>
      <vt:lpstr>Arial</vt:lpstr>
      <vt:lpstr>Atkinson Hyperlegible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abhirajbambhore@gmail.com</cp:lastModifiedBy>
  <cp:revision>3</cp:revision>
  <dcterms:modified xsi:type="dcterms:W3CDTF">2026-07-01T11:20:08Z</dcterms:modified>
</cp:coreProperties>
</file>