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8" r:id="rId6"/>
    <p:sldId id="260" r:id="rId7"/>
    <p:sldId id="261" r:id="rId8"/>
    <p:sldId id="262" r:id="rId9"/>
    <p:sldId id="263" r:id="rId10"/>
    <p:sldId id="264" r:id="rId11"/>
    <p:sldId id="271" r:id="rId12"/>
    <p:sldId id="272" r:id="rId13"/>
    <p:sldId id="270" r:id="rId14"/>
    <p:sldId id="273" r:id="rId15"/>
    <p:sldId id="266" r:id="rId16"/>
    <p:sldId id="267" r:id="rId17"/>
  </p:sldIdLst>
  <p:sldSz cx="18288000" cy="10287000"/>
  <p:notesSz cx="6858000" cy="9144000"/>
  <p:embeddedFontLst>
    <p:embeddedFont>
      <p:font typeface="Microsoft JhengHei UI" panose="020B0604030504040204" pitchFamily="34" charset="-120"/>
      <p:regular r:id="rId19"/>
      <p:bold r:id="rId20"/>
    </p:embeddedFont>
    <p:embeddedFont>
      <p:font typeface="Agrandir" panose="020B0604020202020204" charset="0"/>
      <p:regular r:id="rId21"/>
    </p:embeddedFont>
    <p:embeddedFont>
      <p:font typeface="Agrandir Bold" panose="020B0604020202020204" charset="0"/>
      <p:regular r:id="rId22"/>
    </p:embeddedFont>
    <p:embeddedFont>
      <p:font typeface="Agrandir Bold Italics" panose="020B0604020202020204" charset="0"/>
      <p:regular r:id="rId23"/>
    </p:embeddedFont>
    <p:embeddedFont>
      <p:font typeface="Atkinson Hyperlegible" panose="020B0604020202020204" charset="0"/>
      <p:regular r:id="rId24"/>
    </p:embeddedFont>
    <p:embeddedFont>
      <p:font typeface="Atkinson Hyperlegible Bold" panose="020B0604020202020204" charset="0"/>
      <p:regular r:id="rId25"/>
    </p:embeddedFont>
    <p:embeddedFont>
      <p:font typeface="Calibri" panose="020F0502020204030204" pitchFamily="34" charset="0"/>
      <p:regular r:id="rId26"/>
      <p:bold r:id="rId27"/>
      <p:italic r:id="rId28"/>
      <p:boldItalic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42" d="100"/>
          <a:sy n="42" d="100"/>
        </p:scale>
        <p:origin x="980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294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CCAEAF-7A69-42ED-A340-F2CCBF21282C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02C31D-4E45-4026-BBD9-1C1B03F462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8560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02C31D-4E45-4026-BBD9-1C1B03F4628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3162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0545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p2p-trading-nrj4iz7e0-abhirajs-projects-1d7aabae.vercel.app/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energy.economictimes.indiatimes.com/news/renewable/up-farmer-sells-solar-power-in-live-p2p-energy-trading-demo-at-india-ai-summit/128593177" TargetMode="External"/><Relationship Id="rId4" Type="http://schemas.openxmlformats.org/officeDocument/2006/relationships/image" Target="../media/image10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7" Type="http://schemas.openxmlformats.org/officeDocument/2006/relationships/image" Target="../media/image16.sv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15264" y="0"/>
                  </a:moveTo>
                  <a:lnTo>
                    <a:pt x="4259462" y="0"/>
                  </a:lnTo>
                  <a:cubicBezTo>
                    <a:pt x="4263510" y="0"/>
                    <a:pt x="4267393" y="1608"/>
                    <a:pt x="4270255" y="4471"/>
                  </a:cubicBezTo>
                  <a:cubicBezTo>
                    <a:pt x="4273118" y="7333"/>
                    <a:pt x="4274726" y="11216"/>
                    <a:pt x="4274726" y="15264"/>
                  </a:cubicBezTo>
                  <a:lnTo>
                    <a:pt x="4274726" y="2152203"/>
                  </a:lnTo>
                  <a:cubicBezTo>
                    <a:pt x="4274726" y="2156251"/>
                    <a:pt x="4273118" y="2160133"/>
                    <a:pt x="4270255" y="2162996"/>
                  </a:cubicBezTo>
                  <a:cubicBezTo>
                    <a:pt x="4267393" y="2165858"/>
                    <a:pt x="4263510" y="2167467"/>
                    <a:pt x="4259462" y="2167467"/>
                  </a:cubicBezTo>
                  <a:lnTo>
                    <a:pt x="15264" y="2167467"/>
                  </a:lnTo>
                  <a:cubicBezTo>
                    <a:pt x="11216" y="2167467"/>
                    <a:pt x="7333" y="2165858"/>
                    <a:pt x="4471" y="2162996"/>
                  </a:cubicBezTo>
                  <a:cubicBezTo>
                    <a:pt x="1608" y="2160133"/>
                    <a:pt x="0" y="2156251"/>
                    <a:pt x="0" y="2152203"/>
                  </a:cubicBezTo>
                  <a:lnTo>
                    <a:pt x="0" y="15264"/>
                  </a:lnTo>
                  <a:cubicBezTo>
                    <a:pt x="0" y="11216"/>
                    <a:pt x="1608" y="7333"/>
                    <a:pt x="4471" y="4471"/>
                  </a:cubicBezTo>
                  <a:cubicBezTo>
                    <a:pt x="7333" y="1608"/>
                    <a:pt x="11216" y="0"/>
                    <a:pt x="1526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85725"/>
              <a:ext cx="4274726" cy="22531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6" name="AutoShape 6"/>
          <p:cNvSpPr/>
          <p:nvPr/>
        </p:nvSpPr>
        <p:spPr>
          <a:xfrm>
            <a:off x="8519923" y="7229475"/>
            <a:ext cx="1248155" cy="0"/>
          </a:xfrm>
          <a:prstGeom prst="line">
            <a:avLst/>
          </a:prstGeom>
          <a:ln w="57150" cap="rnd">
            <a:solidFill>
              <a:srgbClr val="2A509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2720546" y="2905125"/>
            <a:ext cx="12846908" cy="429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60"/>
              </a:lnSpc>
            </a:pPr>
            <a:r>
              <a:rPr lang="en-US" sz="6800" b="1" dirty="0">
                <a:solidFill>
                  <a:srgbClr val="2A5098"/>
                </a:solidFill>
                <a:latin typeface="Agrandir Bold"/>
                <a:ea typeface="Agrandir Bold"/>
                <a:cs typeface="Agrandir Bold"/>
                <a:sym typeface="Agrandir Bold"/>
              </a:rPr>
              <a:t>Autonomous peer-to-peer energy orchestration via multi- Agent Systems</a:t>
            </a:r>
          </a:p>
          <a:p>
            <a:pPr algn="l">
              <a:lnSpc>
                <a:spcPts val="8160"/>
              </a:lnSpc>
            </a:pPr>
            <a:endParaRPr lang="en-US" sz="6800" b="1" dirty="0">
              <a:solidFill>
                <a:srgbClr val="2A5098"/>
              </a:solidFill>
              <a:latin typeface="Agrandir Bold"/>
              <a:ea typeface="Agrandir Bold"/>
              <a:cs typeface="Agrandir Bold"/>
              <a:sym typeface="Agrandir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-4121964" y="-239039"/>
            <a:ext cx="5440014" cy="5275859"/>
          </a:xfrm>
          <a:custGeom>
            <a:avLst/>
            <a:gdLst/>
            <a:ahLst/>
            <a:cxnLst/>
            <a:rect l="l" t="t" r="r" b="b"/>
            <a:pathLst>
              <a:path w="5440014" h="5275859">
                <a:moveTo>
                  <a:pt x="0" y="5275859"/>
                </a:moveTo>
                <a:lnTo>
                  <a:pt x="5440013" y="5275859"/>
                </a:lnTo>
                <a:lnTo>
                  <a:pt x="5440013" y="0"/>
                </a:lnTo>
                <a:lnTo>
                  <a:pt x="0" y="0"/>
                </a:lnTo>
                <a:lnTo>
                  <a:pt x="0" y="527585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500930" y="571500"/>
            <a:ext cx="7109670" cy="8883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1" dirty="0">
                <a:solidFill>
                  <a:srgbClr val="2A5098"/>
                </a:solidFill>
                <a:latin typeface="Agrandir Bold"/>
                <a:ea typeface="Agrandir Bold"/>
                <a:cs typeface="Agrandir Bold"/>
                <a:sym typeface="Agrandir Bold"/>
              </a:rPr>
              <a:t> </a:t>
            </a:r>
            <a:r>
              <a:rPr lang="en-US" sz="5800" b="1" dirty="0">
                <a:solidFill>
                  <a:srgbClr val="2A5098"/>
                </a:solidFill>
                <a:latin typeface="Agrandir Bold"/>
                <a:ea typeface="Agrandir Bold"/>
                <a:cs typeface="Agrandir Bold"/>
                <a:sym typeface="Agrandir Bold"/>
              </a:rPr>
              <a:t>The Problem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43000" y="1943100"/>
            <a:ext cx="16575056" cy="85547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95662" lvl="1" indent="-397831">
              <a:lnSpc>
                <a:spcPts val="3685"/>
              </a:lnSpc>
              <a:buFont typeface="Arial"/>
              <a:buChar char="•"/>
            </a:pPr>
            <a:r>
              <a:rPr lang="en-US" sz="3700" b="1" dirty="0">
                <a:solidFill>
                  <a:srgbClr val="0D1D36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The Trillion-Unit Loss</a:t>
            </a:r>
            <a:r>
              <a:rPr lang="en-US" sz="3700" dirty="0">
                <a:solidFill>
                  <a:srgbClr val="0D1D36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: </a:t>
            </a:r>
          </a:p>
          <a:p>
            <a:pPr marL="397831" lvl="1">
              <a:lnSpc>
                <a:spcPts val="3685"/>
              </a:lnSpc>
            </a:pPr>
            <a:endParaRPr lang="en-US" sz="3685" dirty="0">
              <a:solidFill>
                <a:srgbClr val="0D1D36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marL="397831" lvl="1">
              <a:lnSpc>
                <a:spcPts val="3685"/>
              </a:lnSpc>
            </a:pPr>
            <a:r>
              <a:rPr lang="en-US" sz="3685" dirty="0">
                <a:solidFill>
                  <a:srgbClr val="0D1D36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 India lost </a:t>
            </a:r>
            <a:r>
              <a:rPr lang="en-US" sz="3685" b="1" dirty="0">
                <a:solidFill>
                  <a:srgbClr val="0D1D36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2.3 Terawatt units </a:t>
            </a:r>
            <a:r>
              <a:rPr lang="en-US" sz="3685" dirty="0">
                <a:solidFill>
                  <a:srgbClr val="0D1D36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of solar generation in 2025 alone due to grid        inflexibility. That is enough electricity to power 4 lakh Indian households for an entire year</a:t>
            </a:r>
          </a:p>
          <a:p>
            <a:pPr marL="795662" lvl="1" indent="-397831">
              <a:lnSpc>
                <a:spcPts val="3685"/>
              </a:lnSpc>
              <a:buFont typeface="Arial"/>
              <a:buChar char="•"/>
            </a:pPr>
            <a:endParaRPr lang="en-US" sz="3685" b="1" dirty="0">
              <a:solidFill>
                <a:srgbClr val="0D1D36"/>
              </a:solidFill>
              <a:latin typeface="Atkinson Hyperlegible"/>
              <a:ea typeface="Atkinson Hyperlegible Bold"/>
              <a:cs typeface="Atkinson Hyperlegible Bold"/>
              <a:sym typeface="Atkinson Hyperlegible"/>
            </a:endParaRPr>
          </a:p>
          <a:p>
            <a:pPr marL="795662" lvl="1" indent="-397831">
              <a:lnSpc>
                <a:spcPts val="3685"/>
              </a:lnSpc>
              <a:buFont typeface="Arial"/>
              <a:buChar char="•"/>
            </a:pPr>
            <a:r>
              <a:rPr lang="en-US" sz="3700" b="1" dirty="0">
                <a:solidFill>
                  <a:srgbClr val="0D1D36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The Financial Drain:</a:t>
            </a:r>
            <a:r>
              <a:rPr lang="en-US" sz="3700" dirty="0">
                <a:solidFill>
                  <a:srgbClr val="0D1D36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</a:t>
            </a:r>
          </a:p>
          <a:p>
            <a:pPr marL="795662" lvl="1" indent="-397831">
              <a:lnSpc>
                <a:spcPts val="3685"/>
              </a:lnSpc>
              <a:buFont typeface="Arial"/>
              <a:buChar char="•"/>
            </a:pPr>
            <a:endParaRPr lang="en-US" sz="3685" dirty="0">
              <a:solidFill>
                <a:srgbClr val="0D1D36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marL="397831" lvl="1">
              <a:lnSpc>
                <a:spcPts val="3685"/>
              </a:lnSpc>
            </a:pPr>
            <a:r>
              <a:rPr lang="en-US" sz="3685" dirty="0">
                <a:solidFill>
                  <a:srgbClr val="0D1D36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 DISCOMs (power companies) had to pay roughly </a:t>
            </a:r>
            <a:r>
              <a:rPr lang="en-US" sz="3685" b="1" dirty="0">
                <a:solidFill>
                  <a:srgbClr val="0D1D36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₹6,000 Crore </a:t>
            </a:r>
            <a:r>
              <a:rPr lang="en-US" sz="3685" dirty="0">
                <a:solidFill>
                  <a:srgbClr val="0D1D36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in compensation to solar plants for power that was generated but never used.</a:t>
            </a:r>
          </a:p>
          <a:p>
            <a:pPr marL="795662" lvl="1" indent="-397831">
              <a:lnSpc>
                <a:spcPts val="3685"/>
              </a:lnSpc>
              <a:buFont typeface="Arial"/>
              <a:buChar char="•"/>
            </a:pPr>
            <a:endParaRPr lang="en-US" sz="3685" b="1" dirty="0">
              <a:solidFill>
                <a:srgbClr val="0D1D36"/>
              </a:solidFill>
              <a:latin typeface="Atkinson Hyperlegible Bold"/>
              <a:ea typeface="Atkinson Hyperlegible Bold"/>
              <a:cs typeface="Atkinson Hyperlegible Bold"/>
              <a:sym typeface="Atkinson Hyperlegible Bold"/>
            </a:endParaRPr>
          </a:p>
          <a:p>
            <a:pPr marL="969331" lvl="1" indent="-571500" algn="l">
              <a:lnSpc>
                <a:spcPts val="3685"/>
              </a:lnSpc>
              <a:buFont typeface="Arial" panose="020B0604020202020204" pitchFamily="34" charset="0"/>
              <a:buChar char="•"/>
            </a:pPr>
            <a:r>
              <a:rPr lang="en-US" sz="3700" b="1" dirty="0">
                <a:solidFill>
                  <a:srgbClr val="0D1D36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The Midday Crisis</a:t>
            </a:r>
            <a:r>
              <a:rPr lang="en-US" sz="3700" dirty="0">
                <a:solidFill>
                  <a:srgbClr val="0D1D36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:</a:t>
            </a:r>
          </a:p>
          <a:p>
            <a:pPr marL="397831" lvl="1" algn="l">
              <a:lnSpc>
                <a:spcPts val="3685"/>
              </a:lnSpc>
            </a:pPr>
            <a:endParaRPr lang="en-US" sz="3685" dirty="0">
              <a:solidFill>
                <a:srgbClr val="0D1D36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marL="397831" lvl="1" algn="l">
              <a:lnSpc>
                <a:spcPts val="3685"/>
              </a:lnSpc>
            </a:pPr>
            <a:r>
              <a:rPr lang="en-US" sz="4000" dirty="0"/>
              <a:t>  </a:t>
            </a:r>
            <a:r>
              <a:rPr lang="en-US" sz="3690" dirty="0">
                <a:latin typeface="Atkinson Hyperlegible" panose="020B0604020202020204" charset="0"/>
              </a:rPr>
              <a:t>India reached </a:t>
            </a:r>
            <a:r>
              <a:rPr lang="en-US" sz="3690" b="1" dirty="0">
                <a:latin typeface="Atkinson Hyperlegible" panose="020B0604020202020204" charset="0"/>
              </a:rPr>
              <a:t>51% clean energy capacity </a:t>
            </a:r>
            <a:r>
              <a:rPr lang="en-US" sz="3690" dirty="0">
                <a:latin typeface="Atkinson Hyperlegible" panose="020B0604020202020204" charset="0"/>
              </a:rPr>
              <a:t>in 2025, but the power grid cannot handle excess daytime solar energy, leading to wastage of clean power.</a:t>
            </a:r>
            <a:endParaRPr lang="en-US" sz="3690" dirty="0">
              <a:solidFill>
                <a:srgbClr val="0D1D36"/>
              </a:solidFill>
              <a:latin typeface="Atkinson Hyperlegible" panose="020B0604020202020204" charset="0"/>
              <a:ea typeface="Atkinson Hyperlegible"/>
              <a:cs typeface="Atkinson Hyperlegible"/>
              <a:sym typeface="Atkinson Hyperlegible"/>
            </a:endParaRPr>
          </a:p>
          <a:p>
            <a:pPr algn="l">
              <a:lnSpc>
                <a:spcPts val="3685"/>
              </a:lnSpc>
            </a:pPr>
            <a:endParaRPr lang="en-US" sz="3685" dirty="0">
              <a:solidFill>
                <a:srgbClr val="0D1D36"/>
              </a:solidFill>
              <a:latin typeface="Atkinson Hyperlegible" panose="020B0604020202020204" charset="0"/>
              <a:ea typeface="Atkinson Hyperlegible"/>
              <a:cs typeface="Atkinson Hyperlegible"/>
              <a:sym typeface="Atkinson Hyperlegible"/>
            </a:endParaRPr>
          </a:p>
          <a:p>
            <a:pPr algn="l">
              <a:lnSpc>
                <a:spcPts val="3685"/>
              </a:lnSpc>
            </a:pPr>
            <a:endParaRPr lang="en-US" sz="3685" dirty="0">
              <a:solidFill>
                <a:srgbClr val="0D1D36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algn="l">
              <a:lnSpc>
                <a:spcPts val="3685"/>
              </a:lnSpc>
            </a:pPr>
            <a:endParaRPr lang="en-US" sz="3685" dirty="0">
              <a:solidFill>
                <a:srgbClr val="0D1D36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-4267200" y="-266700"/>
            <a:ext cx="5440014" cy="5275859"/>
          </a:xfrm>
          <a:custGeom>
            <a:avLst/>
            <a:gdLst/>
            <a:ahLst/>
            <a:cxnLst/>
            <a:rect l="l" t="t" r="r" b="b"/>
            <a:pathLst>
              <a:path w="5440014" h="5275859">
                <a:moveTo>
                  <a:pt x="0" y="5275859"/>
                </a:moveTo>
                <a:lnTo>
                  <a:pt x="5440014" y="5275859"/>
                </a:lnTo>
                <a:lnTo>
                  <a:pt x="5440014" y="0"/>
                </a:lnTo>
                <a:lnTo>
                  <a:pt x="0" y="0"/>
                </a:lnTo>
                <a:lnTo>
                  <a:pt x="0" y="527585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91207" y="486947"/>
            <a:ext cx="16505586" cy="95817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960379" lvl="1" indent="-571500" algn="l">
              <a:lnSpc>
                <a:spcPts val="5043"/>
              </a:lnSpc>
              <a:buFont typeface="Arial" panose="020B0604020202020204" pitchFamily="34" charset="0"/>
              <a:buChar char="•"/>
            </a:pPr>
            <a:r>
              <a:rPr lang="en-US" sz="3700" b="1" dirty="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The Fixed-Price Trap:</a:t>
            </a:r>
            <a:r>
              <a:rPr lang="en-US" sz="3700" dirty="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</a:t>
            </a:r>
          </a:p>
          <a:p>
            <a:pPr marL="388879" lvl="1" algn="l">
              <a:lnSpc>
                <a:spcPts val="5043"/>
              </a:lnSpc>
            </a:pPr>
            <a:endParaRPr lang="en-US" sz="3700" dirty="0">
              <a:solidFill>
                <a:srgbClr val="000000"/>
              </a:solidFill>
              <a:latin typeface="Agrandir"/>
              <a:ea typeface="Agrandir"/>
              <a:cs typeface="Agrandir"/>
              <a:sym typeface="Agrandir"/>
            </a:endParaRPr>
          </a:p>
          <a:p>
            <a:pPr marL="388879" lvl="1" algn="l">
              <a:lnSpc>
                <a:spcPts val="5043"/>
              </a:lnSpc>
            </a:pPr>
            <a:r>
              <a:rPr lang="en-US" sz="3700" dirty="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 </a:t>
            </a:r>
            <a:r>
              <a:rPr lang="en-US" sz="3690" dirty="0">
                <a:solidFill>
                  <a:srgbClr val="000000"/>
                </a:solidFill>
                <a:latin typeface="Atkinson Hyperlegible" panose="020B0604020202020204" charset="0"/>
                <a:ea typeface="Agrandir"/>
                <a:cs typeface="Agrandir"/>
                <a:sym typeface="Agrandir"/>
              </a:rPr>
              <a:t>Currently, residential solar owners  sell excess power back to the grid at fixed, low rates (Net Metering), regardless of when the grid actually needs it.</a:t>
            </a:r>
          </a:p>
          <a:p>
            <a:pPr marL="388879" lvl="1" algn="l">
              <a:lnSpc>
                <a:spcPts val="5043"/>
              </a:lnSpc>
            </a:pPr>
            <a:endParaRPr lang="en-US" sz="3602" dirty="0">
              <a:solidFill>
                <a:srgbClr val="000000"/>
              </a:solidFill>
              <a:latin typeface="Agrandir"/>
              <a:ea typeface="Agrandir"/>
              <a:cs typeface="Agrandir"/>
              <a:sym typeface="Agrandir"/>
            </a:endParaRPr>
          </a:p>
          <a:p>
            <a:pPr marL="777758" lvl="1" indent="-388879" algn="l">
              <a:lnSpc>
                <a:spcPts val="5043"/>
              </a:lnSpc>
              <a:buFont typeface="Arial"/>
              <a:buChar char="•"/>
            </a:pPr>
            <a:r>
              <a:rPr lang="en-US" sz="3700" b="1" dirty="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Zero Control:</a:t>
            </a:r>
            <a:r>
              <a:rPr lang="en-US" sz="3700" dirty="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</a:t>
            </a:r>
          </a:p>
          <a:p>
            <a:pPr marL="388879" lvl="1" algn="l">
              <a:lnSpc>
                <a:spcPts val="5043"/>
              </a:lnSpc>
            </a:pPr>
            <a:endParaRPr lang="en-US" sz="3602" dirty="0">
              <a:solidFill>
                <a:srgbClr val="000000"/>
              </a:solidFill>
              <a:latin typeface="Agrandir"/>
              <a:ea typeface="Agrandir"/>
              <a:cs typeface="Agrandir"/>
              <a:sym typeface="Agrandir"/>
            </a:endParaRPr>
          </a:p>
          <a:p>
            <a:pPr marL="388879" lvl="1" algn="l">
              <a:lnSpc>
                <a:spcPts val="5043"/>
              </a:lnSpc>
            </a:pPr>
            <a:r>
              <a:rPr lang="en-US" sz="3602" dirty="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 </a:t>
            </a:r>
            <a:r>
              <a:rPr lang="en-US" sz="3690" dirty="0">
                <a:solidFill>
                  <a:srgbClr val="000000"/>
                </a:solidFill>
                <a:latin typeface="Atkinson Hyperlegible" panose="020B0604020202020204" charset="0"/>
                <a:ea typeface="Agrandir"/>
                <a:cs typeface="Agrandir"/>
                <a:sym typeface="Agrandir"/>
              </a:rPr>
              <a:t>Homeowners have no way to sell their surplus energy directly to a </a:t>
            </a:r>
            <a:r>
              <a:rPr lang="en-US" sz="3690" dirty="0" err="1">
                <a:solidFill>
                  <a:srgbClr val="000000"/>
                </a:solidFill>
                <a:latin typeface="Atkinson Hyperlegible" panose="020B0604020202020204" charset="0"/>
                <a:ea typeface="Agrandir"/>
                <a:cs typeface="Agrandir"/>
                <a:sym typeface="Agrandir"/>
              </a:rPr>
              <a:t>neighbour</a:t>
            </a:r>
            <a:r>
              <a:rPr lang="en-US" sz="3690" dirty="0">
                <a:solidFill>
                  <a:srgbClr val="000000"/>
                </a:solidFill>
                <a:latin typeface="Atkinson Hyperlegible" panose="020B0604020202020204" charset="0"/>
                <a:ea typeface="Agrandir"/>
                <a:cs typeface="Agrandir"/>
                <a:sym typeface="Agrandir"/>
              </a:rPr>
              <a:t> who might need it for an EV charger or AC during peak hours.</a:t>
            </a:r>
          </a:p>
          <a:p>
            <a:pPr marL="388879" lvl="1" algn="l">
              <a:lnSpc>
                <a:spcPts val="5043"/>
              </a:lnSpc>
            </a:pPr>
            <a:endParaRPr lang="en-US" sz="3700" dirty="0">
              <a:solidFill>
                <a:srgbClr val="000000"/>
              </a:solidFill>
              <a:latin typeface="Atkinson Hyperlegible" panose="020B0604020202020204" charset="0"/>
              <a:ea typeface="Agrandir"/>
              <a:cs typeface="Agrandir"/>
              <a:sym typeface="Agrandir"/>
            </a:endParaRPr>
          </a:p>
          <a:p>
            <a:pPr marL="960379" lvl="1" indent="-571500" algn="l">
              <a:lnSpc>
                <a:spcPts val="5043"/>
              </a:lnSpc>
              <a:buFont typeface="Arial" panose="020B0604020202020204" pitchFamily="34" charset="0"/>
              <a:buChar char="•"/>
            </a:pPr>
            <a:r>
              <a:rPr lang="en-US" sz="3700" b="1" dirty="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The Missing Link</a:t>
            </a:r>
            <a:r>
              <a:rPr lang="en-US" sz="3700" dirty="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: </a:t>
            </a:r>
          </a:p>
          <a:p>
            <a:pPr marL="388879" lvl="1" algn="l">
              <a:lnSpc>
                <a:spcPts val="5043"/>
              </a:lnSpc>
            </a:pPr>
            <a:endParaRPr lang="en-US" sz="3602" dirty="0">
              <a:solidFill>
                <a:srgbClr val="000000"/>
              </a:solidFill>
              <a:latin typeface="Agrandir"/>
              <a:ea typeface="Agrandir"/>
              <a:cs typeface="Agrandir"/>
              <a:sym typeface="Agrandir"/>
            </a:endParaRPr>
          </a:p>
          <a:p>
            <a:pPr marL="388879" lvl="1" algn="l">
              <a:lnSpc>
                <a:spcPts val="5043"/>
              </a:lnSpc>
            </a:pPr>
            <a:r>
              <a:rPr lang="en-US" sz="3690" dirty="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 </a:t>
            </a:r>
            <a:r>
              <a:rPr lang="en-US" sz="3690" dirty="0">
                <a:solidFill>
                  <a:srgbClr val="000000"/>
                </a:solidFill>
                <a:latin typeface="Atkinson Hyperlegible" panose="020B0604020202020204" charset="0"/>
                <a:ea typeface="Agrandir"/>
                <a:cs typeface="Agrandir"/>
                <a:sym typeface="Agrandir"/>
              </a:rPr>
              <a:t>There is no "middleman" that can negotiate prices in real-time , electricity remains a "dumb" commodity rather than a dynamic market.</a:t>
            </a:r>
          </a:p>
          <a:p>
            <a:pPr algn="l">
              <a:lnSpc>
                <a:spcPts val="5043"/>
              </a:lnSpc>
              <a:spcBef>
                <a:spcPct val="0"/>
              </a:spcBef>
            </a:pPr>
            <a:endParaRPr lang="en-US" sz="3602" dirty="0">
              <a:solidFill>
                <a:srgbClr val="000000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 flipH="1">
            <a:off x="-4114800" y="-1485900"/>
            <a:ext cx="4878221" cy="4731019"/>
          </a:xfrm>
          <a:custGeom>
            <a:avLst/>
            <a:gdLst/>
            <a:ahLst/>
            <a:cxnLst/>
            <a:rect l="l" t="t" r="r" b="b"/>
            <a:pathLst>
              <a:path w="4878221" h="4731019">
                <a:moveTo>
                  <a:pt x="4878221" y="0"/>
                </a:moveTo>
                <a:lnTo>
                  <a:pt x="0" y="0"/>
                </a:lnTo>
                <a:lnTo>
                  <a:pt x="0" y="4731018"/>
                </a:lnTo>
                <a:lnTo>
                  <a:pt x="4878221" y="4731018"/>
                </a:lnTo>
                <a:lnTo>
                  <a:pt x="487822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123013"/>
            <a:ext cx="12275283" cy="953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853"/>
              </a:lnSpc>
              <a:spcBef>
                <a:spcPct val="0"/>
              </a:spcBef>
            </a:pPr>
            <a:r>
              <a:rPr lang="en-US" sz="5609" b="1" dirty="0">
                <a:solidFill>
                  <a:srgbClr val="2A5098"/>
                </a:solidFill>
                <a:latin typeface="Agrandir Bold"/>
                <a:ea typeface="Agrandir Bold"/>
                <a:cs typeface="Agrandir Bold"/>
                <a:sym typeface="Agrandir Bold"/>
              </a:rPr>
              <a:t> The Solution Project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28625" y="494762"/>
            <a:ext cx="17430750" cy="130942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endParaRPr lang="en-US" sz="3977" b="1" i="1" dirty="0">
              <a:solidFill>
                <a:srgbClr val="000000"/>
              </a:solidFill>
              <a:latin typeface="Agrandir Bold"/>
              <a:ea typeface="Agrandir Bold"/>
              <a:cs typeface="Agrandir Bold"/>
              <a:sym typeface="Agrandir Bold"/>
            </a:endParaRP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700" b="1" dirty="0">
                <a:solidFill>
                  <a:srgbClr val="000000"/>
                </a:solidFill>
                <a:latin typeface="Agrandir Bold" panose="020B0604020202020204" charset="0"/>
                <a:ea typeface="Agrandir Bold"/>
                <a:cs typeface="Agrandir Bold"/>
                <a:sym typeface="Agrandir Bold"/>
              </a:rPr>
              <a:t>Autonomous Orchestration</a:t>
            </a:r>
            <a:r>
              <a:rPr lang="en-US" sz="3700" b="1" dirty="0">
                <a:solidFill>
                  <a:srgbClr val="000000"/>
                </a:solidFill>
                <a:latin typeface="Atkinson Hyperlegible" panose="020B0604020202020204" charset="0"/>
                <a:ea typeface="Agrandir Bold"/>
                <a:cs typeface="Agrandir Bold"/>
                <a:sym typeface="Agrandir Bold"/>
              </a:rPr>
              <a:t>:</a:t>
            </a:r>
            <a:r>
              <a:rPr lang="en-US" sz="3700" dirty="0">
                <a:solidFill>
                  <a:srgbClr val="000000"/>
                </a:solidFill>
                <a:latin typeface="Atkinson Hyperlegible" panose="020B0604020202020204" charset="0"/>
                <a:ea typeface="Agrandir"/>
                <a:cs typeface="Agrandir"/>
                <a:sym typeface="Agrandir"/>
              </a:rPr>
              <a:t> </a:t>
            </a: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endParaRPr lang="en-US" sz="3600" dirty="0">
              <a:solidFill>
                <a:srgbClr val="000000"/>
              </a:solidFill>
              <a:latin typeface="Atkinson Hyperlegible" panose="020B0604020202020204" charset="0"/>
              <a:ea typeface="Agrandir"/>
              <a:cs typeface="Agrandir"/>
              <a:sym typeface="Agrandir"/>
            </a:endParaRPr>
          </a:p>
          <a:p>
            <a:pPr marL="388620" lvl="1" algn="l">
              <a:lnSpc>
                <a:spcPts val="5040"/>
              </a:lnSpc>
            </a:pPr>
            <a:r>
              <a:rPr lang="en-US" sz="3600" dirty="0">
                <a:solidFill>
                  <a:srgbClr val="000000"/>
                </a:solidFill>
                <a:latin typeface="Atkinson Hyperlegible" panose="020B0604020202020204" charset="0"/>
                <a:ea typeface="Agrandir"/>
                <a:cs typeface="Agrandir"/>
                <a:sym typeface="Agrandir"/>
              </a:rPr>
              <a:t>  Replaces slow, centralized grid control with </a:t>
            </a:r>
            <a:r>
              <a:rPr lang="en-US" sz="3600" b="1" dirty="0">
                <a:solidFill>
                  <a:srgbClr val="000000"/>
                </a:solidFill>
                <a:latin typeface="Atkinson Hyperlegible" panose="020B0604020202020204" charset="0"/>
                <a:ea typeface="Agrandir"/>
                <a:cs typeface="Agrandir"/>
                <a:sym typeface="Agrandir"/>
              </a:rPr>
              <a:t>Multi-Agent Systems </a:t>
            </a:r>
            <a:r>
              <a:rPr lang="en-US" sz="3600" dirty="0">
                <a:solidFill>
                  <a:srgbClr val="000000"/>
                </a:solidFill>
                <a:latin typeface="Atkinson Hyperlegible" panose="020B0604020202020204" charset="0"/>
                <a:ea typeface="Agrandir"/>
                <a:cs typeface="Agrandir"/>
                <a:sym typeface="Agrandir"/>
              </a:rPr>
              <a:t>where every home, battery, and EV acts as an intelligent, independent agent.</a:t>
            </a:r>
          </a:p>
          <a:p>
            <a:pPr marL="388620" lvl="1" algn="l">
              <a:lnSpc>
                <a:spcPts val="5040"/>
              </a:lnSpc>
            </a:pPr>
            <a:endParaRPr lang="en-US" sz="3600" dirty="0">
              <a:solidFill>
                <a:srgbClr val="000000"/>
              </a:solidFill>
              <a:latin typeface="Atkinson Hyperlegible" panose="020B0604020202020204" charset="0"/>
              <a:ea typeface="Agrandir"/>
              <a:cs typeface="Agrandir"/>
              <a:sym typeface="Agrandir"/>
            </a:endParaRP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 b="1" dirty="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Predictive Intelligence:</a:t>
            </a:r>
            <a:r>
              <a:rPr lang="en-US" sz="3600" dirty="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</a:t>
            </a:r>
          </a:p>
          <a:p>
            <a:pPr marL="388620" lvl="1" algn="l">
              <a:lnSpc>
                <a:spcPts val="5040"/>
              </a:lnSpc>
            </a:pPr>
            <a:endParaRPr lang="en-US" sz="3600" dirty="0">
              <a:solidFill>
                <a:srgbClr val="000000"/>
              </a:solidFill>
              <a:latin typeface="Agrandir"/>
              <a:ea typeface="Agrandir"/>
              <a:cs typeface="Agrandir"/>
              <a:sym typeface="Agrandir"/>
            </a:endParaRPr>
          </a:p>
          <a:p>
            <a:pPr marL="388620" lvl="1" algn="l">
              <a:lnSpc>
                <a:spcPts val="5040"/>
              </a:lnSpc>
            </a:pPr>
            <a:r>
              <a:rPr lang="en-US" sz="3600" dirty="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 </a:t>
            </a:r>
            <a:r>
              <a:rPr lang="en-US" sz="3600" dirty="0">
                <a:solidFill>
                  <a:srgbClr val="000000"/>
                </a:solidFill>
                <a:latin typeface="Atkinson Hyperlegible" panose="020B0604020202020204" charset="0"/>
                <a:ea typeface="Agrandir"/>
                <a:cs typeface="Agrandir"/>
                <a:sym typeface="Agrandir"/>
              </a:rPr>
              <a:t>Integrates </a:t>
            </a:r>
            <a:r>
              <a:rPr lang="en-US" sz="3600" b="1" dirty="0">
                <a:solidFill>
                  <a:srgbClr val="000000"/>
                </a:solidFill>
                <a:latin typeface="Atkinson Hyperlegible" panose="020B0604020202020204" charset="0"/>
                <a:ea typeface="Agrandir"/>
                <a:cs typeface="Agrandir"/>
                <a:sym typeface="Agrandir"/>
              </a:rPr>
              <a:t>Copernicus Sentinel-2 satellite </a:t>
            </a:r>
            <a:r>
              <a:rPr lang="en-US" sz="3600" dirty="0">
                <a:solidFill>
                  <a:srgbClr val="000000"/>
                </a:solidFill>
                <a:latin typeface="Atkinson Hyperlegible" panose="020B0604020202020204" charset="0"/>
                <a:ea typeface="Agrandir"/>
                <a:cs typeface="Agrandir"/>
                <a:sym typeface="Agrandir"/>
              </a:rPr>
              <a:t>data to forecast cloud cover and solar generation, allowing agents to negotiate trades before the sun goes down.</a:t>
            </a:r>
          </a:p>
          <a:p>
            <a:pPr marL="388620" lvl="1" algn="l">
              <a:lnSpc>
                <a:spcPts val="5040"/>
              </a:lnSpc>
            </a:pPr>
            <a:endParaRPr lang="en-US" sz="3600" dirty="0">
              <a:solidFill>
                <a:srgbClr val="000000"/>
              </a:solidFill>
              <a:latin typeface="Atkinson Hyperlegible" panose="020B0604020202020204" charset="0"/>
              <a:ea typeface="Agrandir"/>
              <a:cs typeface="Agrandir"/>
              <a:sym typeface="Agrandir"/>
            </a:endParaRPr>
          </a:p>
          <a:p>
            <a:pPr marL="960120" lvl="1" indent="-571500">
              <a:lnSpc>
                <a:spcPts val="5040"/>
              </a:lnSpc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Grid-Aware Governance:</a:t>
            </a:r>
          </a:p>
          <a:p>
            <a:pPr marL="388620" lvl="1">
              <a:lnSpc>
                <a:spcPts val="5040"/>
              </a:lnSpc>
            </a:pPr>
            <a:endParaRPr lang="en-US" sz="3600" b="1" dirty="0">
              <a:solidFill>
                <a:srgbClr val="000000"/>
              </a:solidFill>
              <a:latin typeface="Agrandir Bold"/>
              <a:ea typeface="Agrandir Bold"/>
              <a:cs typeface="Agrandir Bold"/>
              <a:sym typeface="Agrandir Bold"/>
            </a:endParaRPr>
          </a:p>
          <a:p>
            <a:pPr marL="388620" lvl="1">
              <a:lnSpc>
                <a:spcPts val="5040"/>
              </a:lnSpc>
            </a:pPr>
            <a:r>
              <a:rPr lang="en-US" sz="3600" b="1" dirty="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   </a:t>
            </a:r>
            <a:r>
              <a:rPr lang="en-US" sz="3600" dirty="0">
                <a:solidFill>
                  <a:srgbClr val="000000"/>
                </a:solidFill>
                <a:latin typeface="Atkinson Hyperlegible" panose="020B0604020202020204" charset="0"/>
                <a:ea typeface="Agrandir"/>
                <a:cs typeface="Agrandir"/>
                <a:sym typeface="Agrandir"/>
              </a:rPr>
              <a:t>A dedicated Governance Agent uses </a:t>
            </a:r>
            <a:r>
              <a:rPr lang="en-US" sz="3600" b="1" dirty="0" err="1">
                <a:solidFill>
                  <a:srgbClr val="000000"/>
                </a:solidFill>
                <a:latin typeface="Atkinson Hyperlegible" panose="020B0604020202020204" charset="0"/>
                <a:ea typeface="Agrandir"/>
                <a:cs typeface="Agrandir"/>
                <a:sym typeface="Agrandir"/>
              </a:rPr>
              <a:t>PyPSA</a:t>
            </a:r>
            <a:r>
              <a:rPr lang="en-US" sz="3600" dirty="0">
                <a:solidFill>
                  <a:srgbClr val="000000"/>
                </a:solidFill>
                <a:latin typeface="Atkinson Hyperlegible" panose="020B0604020202020204" charset="0"/>
                <a:ea typeface="Agrandir"/>
                <a:cs typeface="Agrandir"/>
                <a:sym typeface="Agrandir"/>
              </a:rPr>
              <a:t> to check every trade against real-world physics , preventing local blackouts before they happen</a:t>
            </a:r>
            <a:r>
              <a:rPr lang="en-US" sz="3600" dirty="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.</a:t>
            </a:r>
          </a:p>
          <a:p>
            <a:pPr marL="388620" lvl="1" algn="l">
              <a:lnSpc>
                <a:spcPts val="5040"/>
              </a:lnSpc>
            </a:pPr>
            <a:endParaRPr lang="en-US" sz="3600" dirty="0">
              <a:solidFill>
                <a:srgbClr val="000000"/>
              </a:solidFill>
              <a:latin typeface="Atkinson Hyperlegible" panose="020B0604020202020204" charset="0"/>
              <a:ea typeface="Agrandir"/>
              <a:cs typeface="Agrandir"/>
              <a:sym typeface="Agrandir"/>
            </a:endParaRPr>
          </a:p>
          <a:p>
            <a:pPr algn="l">
              <a:lnSpc>
                <a:spcPts val="4251"/>
              </a:lnSpc>
            </a:pPr>
            <a:r>
              <a:rPr lang="en-US" sz="3036" dirty="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.</a:t>
            </a:r>
          </a:p>
          <a:p>
            <a:pPr marL="388620" lvl="1" algn="l">
              <a:lnSpc>
                <a:spcPts val="5040"/>
              </a:lnSpc>
            </a:pPr>
            <a:endParaRPr lang="en-US" sz="3600" dirty="0">
              <a:solidFill>
                <a:srgbClr val="000000"/>
              </a:solidFill>
              <a:latin typeface="Atkinson Hyperlegible" panose="020B0604020202020204" charset="0"/>
              <a:ea typeface="Agrandir"/>
              <a:cs typeface="Agrandir"/>
              <a:sym typeface="Agrandir"/>
            </a:endParaRPr>
          </a:p>
          <a:p>
            <a:pPr marL="388620" lvl="1" algn="l">
              <a:lnSpc>
                <a:spcPts val="5040"/>
              </a:lnSpc>
            </a:pPr>
            <a:endParaRPr lang="en-US" sz="3600" dirty="0">
              <a:solidFill>
                <a:srgbClr val="000000"/>
              </a:solidFill>
              <a:latin typeface="Atkinson Hyperlegible" panose="020B0604020202020204" charset="0"/>
              <a:ea typeface="Agrandir"/>
              <a:cs typeface="Agrandir"/>
              <a:sym typeface="Agrandir"/>
            </a:endParaRPr>
          </a:p>
          <a:p>
            <a:pPr algn="l">
              <a:lnSpc>
                <a:spcPts val="3955"/>
              </a:lnSpc>
            </a:pPr>
            <a:endParaRPr lang="en-US" sz="3036" dirty="0">
              <a:solidFill>
                <a:srgbClr val="000000"/>
              </a:solidFill>
              <a:latin typeface="Agrandir"/>
              <a:ea typeface="Agrandir"/>
              <a:cs typeface="Agrandir"/>
              <a:sym typeface="Agrandir"/>
            </a:endParaRPr>
          </a:p>
          <a:p>
            <a:pPr algn="ctr">
              <a:lnSpc>
                <a:spcPts val="3955"/>
              </a:lnSpc>
              <a:spcBef>
                <a:spcPct val="0"/>
              </a:spcBef>
            </a:pPr>
            <a:endParaRPr lang="en-US" sz="3036" dirty="0">
              <a:solidFill>
                <a:srgbClr val="000000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B693784-7964-4E0E-B9B4-2ECBFB49A3C7}"/>
              </a:ext>
            </a:extLst>
          </p:cNvPr>
          <p:cNvSpPr/>
          <p:nvPr/>
        </p:nvSpPr>
        <p:spPr>
          <a:xfrm rot="10800000" flipH="1">
            <a:off x="-4114800" y="-1485900"/>
            <a:ext cx="4878221" cy="4731019"/>
          </a:xfrm>
          <a:custGeom>
            <a:avLst/>
            <a:gdLst/>
            <a:ahLst/>
            <a:cxnLst/>
            <a:rect l="l" t="t" r="r" b="b"/>
            <a:pathLst>
              <a:path w="4878221" h="4731019">
                <a:moveTo>
                  <a:pt x="4878221" y="0"/>
                </a:moveTo>
                <a:lnTo>
                  <a:pt x="0" y="0"/>
                </a:lnTo>
                <a:lnTo>
                  <a:pt x="0" y="4731018"/>
                </a:lnTo>
                <a:lnTo>
                  <a:pt x="4878221" y="4731018"/>
                </a:lnTo>
                <a:lnTo>
                  <a:pt x="487822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B69787-AF2C-4FD8-BFFE-7BF442D361F9}"/>
              </a:ext>
            </a:extLst>
          </p:cNvPr>
          <p:cNvSpPr txBox="1"/>
          <p:nvPr/>
        </p:nvSpPr>
        <p:spPr>
          <a:xfrm>
            <a:off x="990600" y="879609"/>
            <a:ext cx="16840200" cy="87023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700" b="1" dirty="0">
                <a:latin typeface="Agrandir Bold" panose="020B0604020202020204" charset="0"/>
              </a:rPr>
              <a:t>Blockchain Trade Settlement: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3700" b="1" dirty="0">
              <a:latin typeface="Atkinson Hyperlegible" panose="020B0604020202020204" charset="0"/>
            </a:endParaRPr>
          </a:p>
          <a:p>
            <a:r>
              <a:rPr lang="en-US" sz="3700" b="1" dirty="0">
                <a:latin typeface="Atkinson Hyperlegible" panose="020B0604020202020204" charset="0"/>
              </a:rPr>
              <a:t>  </a:t>
            </a:r>
            <a:r>
              <a:rPr lang="en-US" sz="3690" dirty="0">
                <a:latin typeface="Atkinson Hyperlegible" panose="020B0604020202020204" charset="0"/>
              </a:rPr>
              <a:t>Energy is traded through a local blockchain using smart contracts on a </a:t>
            </a:r>
            <a:r>
              <a:rPr lang="en-US" sz="3690" b="1" dirty="0">
                <a:latin typeface="Atkinson Hyperlegible" panose="020B0604020202020204" charset="0"/>
              </a:rPr>
              <a:t>Hardhat local node </a:t>
            </a:r>
            <a:r>
              <a:rPr lang="en-US" sz="3690" dirty="0">
                <a:latin typeface="Atkinson Hyperlegible" panose="020B0604020202020204" charset="0"/>
              </a:rPr>
              <a:t>for secure and automatic transactions</a:t>
            </a:r>
            <a:r>
              <a:rPr lang="en-US" dirty="0"/>
              <a:t>.</a:t>
            </a:r>
          </a:p>
          <a:p>
            <a:endParaRPr lang="en-US" dirty="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37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700" b="1" dirty="0">
                <a:latin typeface="Agrandir Bold" panose="020B0604020202020204" charset="0"/>
              </a:rPr>
              <a:t>Federated Learning:</a:t>
            </a:r>
          </a:p>
          <a:p>
            <a:endParaRPr lang="en-US" sz="3700" b="1" dirty="0">
              <a:latin typeface="Atkinson Hyperlegible" panose="020B0604020202020204" charset="0"/>
            </a:endParaRPr>
          </a:p>
          <a:p>
            <a:r>
              <a:rPr lang="en-US" sz="3690" dirty="0">
                <a:latin typeface="Atkinson Hyperlegible" panose="020B0604020202020204" charset="0"/>
              </a:rPr>
              <a:t>  Trains AI models across multiple homes and devices without sharing personal energy data, ensuring privacy and secure collaboration.</a:t>
            </a:r>
          </a:p>
          <a:p>
            <a:endParaRPr lang="en-US" sz="3690" dirty="0">
              <a:latin typeface="Atkinson Hyperlegible" panose="020B060402020202020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700" b="1" dirty="0">
                <a:latin typeface="Agrandir Bold" panose="020B0604020202020204" charset="0"/>
              </a:rPr>
              <a:t>Privacy-First Edge AI: </a:t>
            </a:r>
          </a:p>
          <a:p>
            <a:endParaRPr lang="en-US" sz="4000" dirty="0"/>
          </a:p>
          <a:p>
            <a:r>
              <a:rPr lang="en-US" sz="4000" dirty="0"/>
              <a:t>  </a:t>
            </a:r>
            <a:r>
              <a:rPr lang="en-US" sz="3690" dirty="0">
                <a:latin typeface="Atkinson Hyperlegible" panose="020B0604020202020204" charset="0"/>
              </a:rPr>
              <a:t>All decision-making happens locally using </a:t>
            </a:r>
            <a:r>
              <a:rPr lang="en-US" sz="3690" dirty="0" err="1">
                <a:latin typeface="Atkinson Hyperlegible" panose="020B0604020202020204" charset="0"/>
              </a:rPr>
              <a:t>Ollama</a:t>
            </a:r>
            <a:r>
              <a:rPr lang="en-US" sz="3690" dirty="0">
                <a:latin typeface="Atkinson Hyperlegible" panose="020B0604020202020204" charset="0"/>
              </a:rPr>
              <a:t> (</a:t>
            </a:r>
            <a:r>
              <a:rPr lang="en-US" sz="3690" dirty="0" err="1">
                <a:latin typeface="Atkinson Hyperlegible" panose="020B0604020202020204" charset="0"/>
              </a:rPr>
              <a:t>LLaMA</a:t>
            </a:r>
            <a:r>
              <a:rPr lang="en-US" sz="3690" dirty="0">
                <a:latin typeface="Atkinson Hyperlegible" panose="020B0604020202020204" charset="0"/>
              </a:rPr>
              <a:t> 3.1) your private energy data never leaves your home to a vulnerable cloud server.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2767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 rot="-10800000" flipH="1">
            <a:off x="-4382922" y="-1591604"/>
            <a:ext cx="4878221" cy="4731019"/>
          </a:xfrm>
          <a:custGeom>
            <a:avLst/>
            <a:gdLst/>
            <a:ahLst/>
            <a:cxnLst/>
            <a:rect l="l" t="t" r="r" b="b"/>
            <a:pathLst>
              <a:path w="4878221" h="4731019">
                <a:moveTo>
                  <a:pt x="4878221" y="0"/>
                </a:moveTo>
                <a:lnTo>
                  <a:pt x="0" y="0"/>
                </a:lnTo>
                <a:lnTo>
                  <a:pt x="0" y="4731018"/>
                </a:lnTo>
                <a:lnTo>
                  <a:pt x="4878221" y="4731018"/>
                </a:lnTo>
                <a:lnTo>
                  <a:pt x="487822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021254-8728-48ED-8AF8-0B38481C3B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549" y="1123356"/>
            <a:ext cx="17106901" cy="89636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686948E-DE55-49C6-A658-B18E4689150B}"/>
              </a:ext>
            </a:extLst>
          </p:cNvPr>
          <p:cNvSpPr txBox="1"/>
          <p:nvPr/>
        </p:nvSpPr>
        <p:spPr>
          <a:xfrm>
            <a:off x="914400" y="200025"/>
            <a:ext cx="10820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chemeClr val="tx2"/>
                </a:solidFill>
                <a:latin typeface="Agrandir Bold" panose="020B0604020202020204" charset="0"/>
              </a:rPr>
              <a:t>Architectural Diagram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76683" y="210791"/>
            <a:ext cx="16682617" cy="809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00"/>
              </a:lnSpc>
              <a:spcBef>
                <a:spcPct val="0"/>
              </a:spcBef>
            </a:pPr>
            <a:r>
              <a:rPr lang="en-US" sz="6200" b="1" dirty="0">
                <a:solidFill>
                  <a:srgbClr val="2A5098"/>
                </a:solidFill>
                <a:latin typeface="Agrandir Bold"/>
                <a:ea typeface="Agrandir Bold"/>
                <a:cs typeface="Agrandir Bold"/>
                <a:sym typeface="Agrandir Bold"/>
              </a:rPr>
              <a:t>   Working :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56942" y="1020693"/>
            <a:ext cx="17974115" cy="9325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31"/>
              </a:lnSpc>
            </a:pPr>
            <a:r>
              <a:rPr lang="en-US" sz="4231" b="1" i="1" dirty="0">
                <a:solidFill>
                  <a:srgbClr val="000000"/>
                </a:solidFill>
                <a:latin typeface="Agrandir Bold Italics"/>
                <a:ea typeface="Agrandir Bold Italics"/>
                <a:cs typeface="Agrandir Bold Italics"/>
                <a:sym typeface="Agrandir Bold Italics"/>
              </a:rPr>
              <a:t>       How Microsoft </a:t>
            </a:r>
            <a:r>
              <a:rPr lang="en-US" sz="4231" b="1" i="1" dirty="0" err="1">
                <a:solidFill>
                  <a:srgbClr val="000000"/>
                </a:solidFill>
                <a:latin typeface="Agrandir Bold Italics"/>
                <a:ea typeface="Agrandir Bold Italics"/>
                <a:cs typeface="Agrandir Bold Italics"/>
                <a:sym typeface="Agrandir Bold Italics"/>
              </a:rPr>
              <a:t>AutoGen</a:t>
            </a:r>
            <a:r>
              <a:rPr lang="en-US" sz="4231" b="1" i="1" dirty="0">
                <a:solidFill>
                  <a:srgbClr val="000000"/>
                </a:solidFill>
                <a:latin typeface="Agrandir Bold Italics"/>
                <a:ea typeface="Agrandir Bold Italics"/>
                <a:cs typeface="Agrandir Bold Italics"/>
                <a:sym typeface="Agrandir Bold Italics"/>
              </a:rPr>
              <a:t> Orchestrates the Trade.</a:t>
            </a:r>
          </a:p>
          <a:p>
            <a:pPr algn="l">
              <a:lnSpc>
                <a:spcPts val="4231"/>
              </a:lnSpc>
            </a:pPr>
            <a:endParaRPr lang="en-US" sz="4231" b="1" i="1" dirty="0">
              <a:solidFill>
                <a:srgbClr val="000000"/>
              </a:solidFill>
              <a:latin typeface="Agrandir Bold Italics"/>
              <a:ea typeface="Agrandir Bold Italics"/>
              <a:cs typeface="Agrandir Bold Italics"/>
              <a:sym typeface="Agrandir Bold Italics"/>
            </a:endParaRPr>
          </a:p>
          <a:p>
            <a:pPr marL="571500" indent="-571500" algn="l">
              <a:lnSpc>
                <a:spcPts val="4231"/>
              </a:lnSpc>
              <a:buFont typeface="Arial" panose="020B0604020202020204" pitchFamily="34" charset="0"/>
              <a:buChar char="•"/>
            </a:pPr>
            <a:r>
              <a:rPr lang="en-US" sz="3731" b="1" dirty="0">
                <a:solidFill>
                  <a:srgbClr val="000000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 Step 1:</a:t>
            </a:r>
            <a:r>
              <a:rPr lang="en-US" sz="3731" dirty="0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Context Aggregation: Sentinel-2 data , Smart Meter data are fused into a single JSON context.</a:t>
            </a:r>
          </a:p>
          <a:p>
            <a:pPr algn="l">
              <a:lnSpc>
                <a:spcPts val="3731"/>
              </a:lnSpc>
            </a:pPr>
            <a:endParaRPr lang="en-US" sz="3731" dirty="0">
              <a:solidFill>
                <a:srgbClr val="000000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marL="805577" lvl="1" indent="-402788" algn="l">
              <a:lnSpc>
                <a:spcPts val="3731"/>
              </a:lnSpc>
              <a:buFont typeface="Arial"/>
              <a:buChar char="•"/>
            </a:pPr>
            <a:r>
              <a:rPr lang="en-US" sz="3731" b="1" dirty="0">
                <a:solidFill>
                  <a:srgbClr val="000000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Step 2:</a:t>
            </a:r>
            <a:r>
              <a:rPr lang="en-US" sz="3731" dirty="0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The Negotiation : Supply Agent: "I have 5kWh excess predicted for the next hour. Asking price: ₹4.50/kWh.“</a:t>
            </a:r>
          </a:p>
          <a:p>
            <a:pPr marL="402789" lvl="1" algn="l">
              <a:lnSpc>
                <a:spcPts val="3731"/>
              </a:lnSpc>
            </a:pPr>
            <a:endParaRPr lang="en-US" sz="3731" dirty="0">
              <a:solidFill>
                <a:srgbClr val="000000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marL="1611154" lvl="2" indent="-537051" algn="l">
              <a:lnSpc>
                <a:spcPts val="3731"/>
              </a:lnSpc>
              <a:buFont typeface="Arial"/>
              <a:buChar char="⚬"/>
            </a:pPr>
            <a:r>
              <a:rPr lang="en-US" sz="3731" dirty="0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Demand Agent (EV): "My car needs to reach 80% by 5 PM. I bid ₹4.20/kWh."</a:t>
            </a:r>
          </a:p>
          <a:p>
            <a:pPr algn="l">
              <a:lnSpc>
                <a:spcPts val="3731"/>
              </a:lnSpc>
            </a:pPr>
            <a:endParaRPr lang="en-US" sz="3731" dirty="0">
              <a:solidFill>
                <a:srgbClr val="000000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marL="805577" lvl="1" indent="-402788" algn="l">
              <a:lnSpc>
                <a:spcPts val="3731"/>
              </a:lnSpc>
              <a:buFont typeface="Arial"/>
              <a:buChar char="•"/>
            </a:pPr>
            <a:r>
              <a:rPr lang="en-US" sz="3731" b="1" dirty="0">
                <a:solidFill>
                  <a:srgbClr val="000000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Step 3:</a:t>
            </a:r>
            <a:r>
              <a:rPr lang="en-US" sz="3731" dirty="0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Governance Filter (The Guardrail): The Governance Agent runs a quick power-flow study.</a:t>
            </a:r>
          </a:p>
          <a:p>
            <a:pPr marL="402789" lvl="1" algn="l">
              <a:lnSpc>
                <a:spcPts val="3731"/>
              </a:lnSpc>
            </a:pPr>
            <a:endParaRPr lang="en-US" sz="3731" dirty="0">
              <a:solidFill>
                <a:srgbClr val="000000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marL="1611154" lvl="2" indent="-537051" algn="l">
              <a:lnSpc>
                <a:spcPts val="3731"/>
              </a:lnSpc>
              <a:buFont typeface="Arial"/>
              <a:buChar char="⚬"/>
            </a:pPr>
            <a:r>
              <a:rPr lang="en-US" sz="3731" dirty="0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Verdict: "Trade Approved. Transferring 5kWh will not exceed local transformer limits.</a:t>
            </a:r>
          </a:p>
          <a:p>
            <a:pPr algn="l">
              <a:lnSpc>
                <a:spcPts val="3731"/>
              </a:lnSpc>
            </a:pPr>
            <a:endParaRPr lang="en-US" sz="3731" dirty="0">
              <a:solidFill>
                <a:srgbClr val="000000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marL="805577" lvl="1" indent="-402788" algn="l">
              <a:lnSpc>
                <a:spcPts val="3731"/>
              </a:lnSpc>
              <a:buFont typeface="Arial"/>
              <a:buChar char="•"/>
            </a:pPr>
            <a:r>
              <a:rPr lang="en-US" sz="3731" b="1" dirty="0">
                <a:solidFill>
                  <a:srgbClr val="000000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Step 4:</a:t>
            </a:r>
            <a:r>
              <a:rPr lang="en-US" sz="3731" dirty="0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LLM Explanation: </a:t>
            </a:r>
            <a:r>
              <a:rPr lang="en-US" sz="3731" dirty="0" err="1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Ollama</a:t>
            </a:r>
            <a:r>
              <a:rPr lang="en-US" sz="3731" dirty="0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(</a:t>
            </a:r>
            <a:r>
              <a:rPr lang="en-US" sz="3731" dirty="0" err="1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LLaMA</a:t>
            </a:r>
            <a:r>
              <a:rPr lang="en-US" sz="3731" dirty="0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3.1) generates a simple log: "Sold 5 units to Neighbor at ₹4.35 to maximize your battery life for the evening peak."</a:t>
            </a:r>
          </a:p>
          <a:p>
            <a:pPr algn="l">
              <a:lnSpc>
                <a:spcPts val="4131"/>
              </a:lnSpc>
            </a:pPr>
            <a:r>
              <a:rPr lang="en-US" dirty="0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Link: </a:t>
            </a:r>
            <a:r>
              <a:rPr lang="en-US" dirty="0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  <a:hlinkClick r:id="rId2"/>
              </a:rPr>
              <a:t>https://p2p-trading-nrj4iz7e0-abhirajs-projects-1d7aabae.vercel.app/</a:t>
            </a:r>
            <a:endParaRPr lang="en-US" dirty="0">
              <a:solidFill>
                <a:srgbClr val="000000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sp>
        <p:nvSpPr>
          <p:cNvPr id="4" name="Freeform 4"/>
          <p:cNvSpPr/>
          <p:nvPr/>
        </p:nvSpPr>
        <p:spPr>
          <a:xfrm rot="-10800000" flipH="1">
            <a:off x="-4267200" y="-1638300"/>
            <a:ext cx="4878221" cy="4731019"/>
          </a:xfrm>
          <a:custGeom>
            <a:avLst/>
            <a:gdLst/>
            <a:ahLst/>
            <a:cxnLst/>
            <a:rect l="l" t="t" r="r" b="b"/>
            <a:pathLst>
              <a:path w="4878221" h="4731019">
                <a:moveTo>
                  <a:pt x="4878221" y="0"/>
                </a:moveTo>
                <a:lnTo>
                  <a:pt x="0" y="0"/>
                </a:lnTo>
                <a:lnTo>
                  <a:pt x="0" y="4731019"/>
                </a:lnTo>
                <a:lnTo>
                  <a:pt x="4878221" y="4731019"/>
                </a:lnTo>
                <a:lnTo>
                  <a:pt x="4878221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862754" y="8418705"/>
            <a:ext cx="232591" cy="232591"/>
          </a:xfrm>
          <a:custGeom>
            <a:avLst/>
            <a:gdLst/>
            <a:ahLst/>
            <a:cxnLst/>
            <a:rect l="l" t="t" r="r" b="b"/>
            <a:pathLst>
              <a:path w="232591" h="232591">
                <a:moveTo>
                  <a:pt x="0" y="0"/>
                </a:moveTo>
                <a:lnTo>
                  <a:pt x="232591" y="0"/>
                </a:lnTo>
                <a:lnTo>
                  <a:pt x="232591" y="232591"/>
                </a:lnTo>
                <a:lnTo>
                  <a:pt x="0" y="2325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82186" y="1257300"/>
            <a:ext cx="17323627" cy="95102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170"/>
              </a:lnSpc>
            </a:pPr>
            <a:r>
              <a:rPr lang="en-US" sz="4170" dirty="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     </a:t>
            </a:r>
            <a:r>
              <a:rPr lang="en-US" sz="4170" b="1" dirty="0">
                <a:solidFill>
                  <a:srgbClr val="0D1D36"/>
                </a:solidFill>
                <a:latin typeface="Agrandir Bold"/>
                <a:ea typeface="Agrandir Bold"/>
                <a:cs typeface="Agrandir Bold"/>
                <a:sym typeface="Agrandir Bold"/>
              </a:rPr>
              <a:t>Autonomous Financial Settlement in Milliseconds.</a:t>
            </a:r>
          </a:p>
          <a:p>
            <a:pPr algn="ctr">
              <a:lnSpc>
                <a:spcPts val="3662"/>
              </a:lnSpc>
            </a:pPr>
            <a:endParaRPr lang="en-US" sz="4170" b="1" dirty="0">
              <a:solidFill>
                <a:srgbClr val="0D1D36"/>
              </a:solidFill>
              <a:latin typeface="Agrandir Bold"/>
              <a:ea typeface="Agrandir Bold"/>
              <a:cs typeface="Agrandir Bold"/>
              <a:sym typeface="Agrandir Bold"/>
            </a:endParaRPr>
          </a:p>
          <a:p>
            <a:pPr marL="834625" lvl="1" indent="-417312" algn="l">
              <a:lnSpc>
                <a:spcPts val="3865"/>
              </a:lnSpc>
              <a:buFont typeface="Arial"/>
              <a:buChar char="•"/>
            </a:pPr>
            <a:r>
              <a:rPr lang="en-US" sz="3865" b="1" dirty="0">
                <a:solidFill>
                  <a:srgbClr val="000000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Step 1:</a:t>
            </a:r>
            <a:r>
              <a:rPr lang="en-US" sz="3865" dirty="0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</a:t>
            </a:r>
          </a:p>
          <a:p>
            <a:pPr marL="417313" lvl="1" algn="l">
              <a:lnSpc>
                <a:spcPts val="3865"/>
              </a:lnSpc>
            </a:pPr>
            <a:r>
              <a:rPr lang="en-US" sz="3865" dirty="0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 The AI Handshake The Buyer Agent  broadcasts a need; the Seller Agent analyzes excess and offers a bid price based on a Reliability Score.</a:t>
            </a:r>
          </a:p>
          <a:p>
            <a:pPr algn="l">
              <a:lnSpc>
                <a:spcPts val="3865"/>
              </a:lnSpc>
            </a:pPr>
            <a:endParaRPr lang="en-US" sz="3865" dirty="0">
              <a:solidFill>
                <a:srgbClr val="000000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marL="834625" lvl="1" indent="-417312" algn="l">
              <a:lnSpc>
                <a:spcPts val="3865"/>
              </a:lnSpc>
              <a:buFont typeface="Arial"/>
              <a:buChar char="•"/>
            </a:pPr>
            <a:r>
              <a:rPr lang="en-US" sz="3865" b="1" dirty="0">
                <a:solidFill>
                  <a:srgbClr val="000000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Step 2:</a:t>
            </a:r>
            <a:r>
              <a:rPr lang="en-US" sz="3865" dirty="0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</a:t>
            </a:r>
          </a:p>
          <a:p>
            <a:pPr marL="417313" lvl="1" algn="l">
              <a:lnSpc>
                <a:spcPts val="3865"/>
              </a:lnSpc>
            </a:pPr>
            <a:r>
              <a:rPr lang="en-US" sz="3865" dirty="0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 Smart Contract  Funds are automatically locked in a Smart Contract to guarantee payment once the energy flow is verified.</a:t>
            </a:r>
          </a:p>
          <a:p>
            <a:pPr algn="l">
              <a:lnSpc>
                <a:spcPts val="3865"/>
              </a:lnSpc>
            </a:pPr>
            <a:endParaRPr lang="en-US" sz="3865" dirty="0">
              <a:solidFill>
                <a:srgbClr val="000000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marL="834625" lvl="1" indent="-417312" algn="l">
              <a:lnSpc>
                <a:spcPts val="3865"/>
              </a:lnSpc>
              <a:buFont typeface="Arial"/>
              <a:buChar char="•"/>
            </a:pPr>
            <a:r>
              <a:rPr lang="en-US" sz="3865" b="1" dirty="0">
                <a:solidFill>
                  <a:srgbClr val="000000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Step 3:</a:t>
            </a:r>
            <a:r>
              <a:rPr lang="en-US" sz="3865" dirty="0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</a:t>
            </a:r>
          </a:p>
          <a:p>
            <a:pPr marL="417313" lvl="1" algn="l">
              <a:lnSpc>
                <a:spcPts val="3865"/>
              </a:lnSpc>
            </a:pPr>
            <a:r>
              <a:rPr lang="en-US" sz="3865" dirty="0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 Physical Delivery The Smart Meters confirm the physical transfer of kWh across the local microgrid lines.</a:t>
            </a:r>
          </a:p>
          <a:p>
            <a:pPr algn="l">
              <a:lnSpc>
                <a:spcPts val="3865"/>
              </a:lnSpc>
            </a:pPr>
            <a:endParaRPr lang="en-US" sz="3865" dirty="0">
              <a:solidFill>
                <a:srgbClr val="000000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marL="834625" lvl="1" indent="-417312" algn="l">
              <a:lnSpc>
                <a:spcPts val="3865"/>
              </a:lnSpc>
              <a:buFont typeface="Arial"/>
              <a:buChar char="•"/>
            </a:pPr>
            <a:r>
              <a:rPr lang="en-US" sz="3865" b="1" dirty="0">
                <a:solidFill>
                  <a:srgbClr val="000000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Step 4:</a:t>
            </a:r>
            <a:r>
              <a:rPr lang="en-US" sz="3865" dirty="0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</a:t>
            </a:r>
          </a:p>
          <a:p>
            <a:pPr marL="417313" lvl="1" algn="l">
              <a:lnSpc>
                <a:spcPts val="3865"/>
              </a:lnSpc>
            </a:pPr>
            <a:r>
              <a:rPr lang="en-US" sz="3865" dirty="0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 Blockchain Settlement  The transaction is recorded on a Distributed Ledger for 100% transparency and security, releasing the money to the seller instantly.</a:t>
            </a:r>
          </a:p>
          <a:p>
            <a:pPr algn="ctr">
              <a:lnSpc>
                <a:spcPts val="3662"/>
              </a:lnSpc>
              <a:spcBef>
                <a:spcPct val="0"/>
              </a:spcBef>
            </a:pPr>
            <a:endParaRPr lang="en-US" sz="3865" dirty="0">
              <a:solidFill>
                <a:srgbClr val="000000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720533" y="305548"/>
            <a:ext cx="17790737" cy="836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400"/>
              </a:lnSpc>
              <a:spcBef>
                <a:spcPct val="0"/>
              </a:spcBef>
            </a:pPr>
            <a:r>
              <a:rPr lang="en-US" sz="5600" b="1" dirty="0">
                <a:solidFill>
                  <a:srgbClr val="2A5098"/>
                </a:solidFill>
                <a:latin typeface="Agrandir Bold"/>
                <a:ea typeface="Agrandir Bold"/>
                <a:cs typeface="Agrandir Bold"/>
                <a:sym typeface="Agrandir Bold"/>
              </a:rPr>
              <a:t>The</a:t>
            </a:r>
            <a:r>
              <a:rPr lang="en-US" sz="6400" b="1" dirty="0">
                <a:solidFill>
                  <a:srgbClr val="2A5098"/>
                </a:solidFill>
                <a:latin typeface="Agrandir Bold"/>
                <a:ea typeface="Agrandir Bold"/>
                <a:cs typeface="Agrandir Bold"/>
                <a:sym typeface="Agrandir Bold"/>
              </a:rPr>
              <a:t> Point-to-Point Negotiation</a:t>
            </a:r>
          </a:p>
        </p:txBody>
      </p:sp>
      <p:sp>
        <p:nvSpPr>
          <p:cNvPr id="5" name="Freeform 5"/>
          <p:cNvSpPr/>
          <p:nvPr/>
        </p:nvSpPr>
        <p:spPr>
          <a:xfrm rot="-10800000" flipH="1">
            <a:off x="-3962400" y="-1409700"/>
            <a:ext cx="4878221" cy="4731019"/>
          </a:xfrm>
          <a:custGeom>
            <a:avLst/>
            <a:gdLst/>
            <a:ahLst/>
            <a:cxnLst/>
            <a:rect l="l" t="t" r="r" b="b"/>
            <a:pathLst>
              <a:path w="4878221" h="4731019">
                <a:moveTo>
                  <a:pt x="4878221" y="0"/>
                </a:moveTo>
                <a:lnTo>
                  <a:pt x="0" y="0"/>
                </a:lnTo>
                <a:lnTo>
                  <a:pt x="0" y="4731018"/>
                </a:lnTo>
                <a:lnTo>
                  <a:pt x="4878221" y="4731018"/>
                </a:lnTo>
                <a:lnTo>
                  <a:pt x="487822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 rot="-10800000" flipH="1">
            <a:off x="-3657600" y="-952500"/>
            <a:ext cx="4878221" cy="4731019"/>
          </a:xfrm>
          <a:custGeom>
            <a:avLst/>
            <a:gdLst/>
            <a:ahLst/>
            <a:cxnLst/>
            <a:rect l="l" t="t" r="r" b="b"/>
            <a:pathLst>
              <a:path w="4878221" h="4731019">
                <a:moveTo>
                  <a:pt x="4878222" y="0"/>
                </a:moveTo>
                <a:lnTo>
                  <a:pt x="0" y="0"/>
                </a:lnTo>
                <a:lnTo>
                  <a:pt x="0" y="4731018"/>
                </a:lnTo>
                <a:lnTo>
                  <a:pt x="4878222" y="4731018"/>
                </a:lnTo>
                <a:lnTo>
                  <a:pt x="487822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4975E5-1DB9-48F9-9C7A-8A9483401C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7400" y="1021497"/>
            <a:ext cx="14325600" cy="907500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D8BFD64-163C-4731-BCB3-B33188BF33CA}"/>
              </a:ext>
            </a:extLst>
          </p:cNvPr>
          <p:cNvSpPr txBox="1"/>
          <p:nvPr/>
        </p:nvSpPr>
        <p:spPr>
          <a:xfrm>
            <a:off x="1220622" y="38100"/>
            <a:ext cx="96759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tx2"/>
                </a:solidFill>
                <a:latin typeface="Agrandir Bold" panose="020B0604020202020204" charset="0"/>
              </a:rPr>
              <a:t>Hardware Components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 flipH="1">
            <a:off x="-4076185" y="-1336809"/>
            <a:ext cx="4878221" cy="4731019"/>
          </a:xfrm>
          <a:custGeom>
            <a:avLst/>
            <a:gdLst/>
            <a:ahLst/>
            <a:cxnLst/>
            <a:rect l="l" t="t" r="r" b="b"/>
            <a:pathLst>
              <a:path w="4878221" h="4731019">
                <a:moveTo>
                  <a:pt x="4878222" y="0"/>
                </a:moveTo>
                <a:lnTo>
                  <a:pt x="0" y="0"/>
                </a:lnTo>
                <a:lnTo>
                  <a:pt x="0" y="4731018"/>
                </a:lnTo>
                <a:lnTo>
                  <a:pt x="4878222" y="4731018"/>
                </a:lnTo>
                <a:lnTo>
                  <a:pt x="487822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698" r="-1698" b="-409"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" y="18288"/>
            <a:ext cx="6400800" cy="10287000"/>
          </a:xfrm>
          <a:prstGeom prst="rect">
            <a:avLst/>
          </a:prstGeom>
          <a:solidFill>
            <a:srgbClr val="0B1D3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kern="0" spc="6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53035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· SAM · SOM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3383280"/>
            <a:ext cx="5303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5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P2P Energy</a:t>
            </a:r>
            <a:endParaRPr lang="en-US" sz="5600" dirty="0">
              <a:solidFill>
                <a:schemeClr val="bg1"/>
              </a:solidFill>
            </a:endParaRPr>
          </a:p>
          <a:p>
            <a:r>
              <a:rPr lang="en-US" sz="5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Platform</a:t>
            </a:r>
            <a:endParaRPr lang="en-US" sz="5600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877824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dirty="0">
                <a:solidFill>
                  <a:srgbClr val="7A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MNRE Apr 2026 · Ember Jan 2026</a:t>
            </a:r>
            <a:endParaRPr lang="en-US" sz="1500" dirty="0"/>
          </a:p>
          <a:p>
            <a:r>
              <a:rPr lang="en-US" sz="1500" dirty="0">
                <a:solidFill>
                  <a:srgbClr val="7A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Mercom India 2025 · DERC Order Feb 2026</a:t>
            </a:r>
            <a:endParaRPr lang="en-US" sz="1500" dirty="0"/>
          </a:p>
          <a:p>
            <a:r>
              <a:rPr lang="en-US" sz="1500" dirty="0">
                <a:solidFill>
                  <a:srgbClr val="7A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BAF 2025 · Rentechdigital May 2025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766560" y="457200"/>
            <a:ext cx="10789920" cy="2926080"/>
          </a:xfrm>
          <a:prstGeom prst="rect">
            <a:avLst/>
          </a:prstGeom>
          <a:solidFill>
            <a:srgbClr val="E6F6F8"/>
          </a:solidFill>
          <a:ln w="19050">
            <a:solidFill>
              <a:srgbClr val="028090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766560" y="457200"/>
            <a:ext cx="146304" cy="2926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7040880" y="676656"/>
            <a:ext cx="1463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600" b="1" kern="0" spc="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7040880" y="1078992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6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₹1,253 Cr/yr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7040880" y="2139696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India already has 26.75 GW of rooftop solar capacity (MNRE, Apr 2026), creating revenue opportunities through surplus energy trading fees and premium subscriptions.</a:t>
            </a:r>
            <a:endParaRPr lang="en-US" sz="19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766560" y="3639312"/>
            <a:ext cx="10789920" cy="2926080"/>
          </a:xfrm>
          <a:prstGeom prst="rect">
            <a:avLst/>
          </a:prstGeom>
          <a:solidFill>
            <a:srgbClr val="FEF3E8"/>
          </a:solidFill>
          <a:ln w="19050">
            <a:solidFill>
              <a:srgbClr val="E07B2B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766560" y="3639312"/>
            <a:ext cx="146304" cy="2926080"/>
          </a:xfrm>
          <a:prstGeom prst="rect">
            <a:avLst/>
          </a:prstGeom>
          <a:solidFill>
            <a:srgbClr val="E07B2B"/>
          </a:solidFill>
          <a:ln/>
        </p:spPr>
      </p:sp>
      <p:sp>
        <p:nvSpPr>
          <p:cNvPr id="14" name="Text 12"/>
          <p:cNvSpPr/>
          <p:nvPr/>
        </p:nvSpPr>
        <p:spPr>
          <a:xfrm>
            <a:off x="7040880" y="3858768"/>
            <a:ext cx="1463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600" b="1" kern="0" spc="400" dirty="0">
                <a:solidFill>
                  <a:srgbClr val="E07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7040880" y="4261104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6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₹313 Cr/yr</a:t>
            </a:r>
            <a:endParaRPr lang="en-US" sz="6000" dirty="0"/>
          </a:p>
        </p:txBody>
      </p:sp>
      <p:sp>
        <p:nvSpPr>
          <p:cNvPr id="16" name="Text 14"/>
          <p:cNvSpPr/>
          <p:nvPr/>
        </p:nvSpPr>
        <p:spPr>
          <a:xfrm>
            <a:off x="7040880" y="5321808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3,000+ gated communities across India, including 1,400 and apartments and RWAs in Bengaluru, covering a market of 3.5 lakh households.</a:t>
            </a:r>
            <a:endParaRPr lang="en-US" sz="19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766560" y="6821424"/>
            <a:ext cx="10789920" cy="2926080"/>
          </a:xfrm>
          <a:prstGeom prst="rect">
            <a:avLst/>
          </a:prstGeom>
          <a:solidFill>
            <a:srgbClr val="E8F5EE"/>
          </a:solidFill>
          <a:ln w="19050">
            <a:solidFill>
              <a:srgbClr val="1E7A4E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66560" y="6821424"/>
            <a:ext cx="146304" cy="2926080"/>
          </a:xfrm>
          <a:prstGeom prst="rect">
            <a:avLst/>
          </a:prstGeom>
          <a:solidFill>
            <a:srgbClr val="1E7A4E"/>
          </a:solidFill>
          <a:ln/>
        </p:spPr>
      </p:sp>
      <p:sp>
        <p:nvSpPr>
          <p:cNvPr id="19" name="Text 17"/>
          <p:cNvSpPr/>
          <p:nvPr/>
        </p:nvSpPr>
        <p:spPr>
          <a:xfrm>
            <a:off x="7040880" y="7040880"/>
            <a:ext cx="1463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600" b="1" kern="0" spc="400" dirty="0">
                <a:solidFill>
                  <a:srgbClr val="1E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7040880" y="7443216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6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₹3–18 Cr/yr</a:t>
            </a:r>
            <a:endParaRPr lang="en-US" sz="6000" dirty="0"/>
          </a:p>
        </p:txBody>
      </p:sp>
      <p:sp>
        <p:nvSpPr>
          <p:cNvPr id="21" name="Text 19"/>
          <p:cNvSpPr/>
          <p:nvPr/>
        </p:nvSpPr>
        <p:spPr>
          <a:xfrm>
            <a:off x="7040880" y="850392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Year 1: 50 clusters covering 100 households each at ₹6,067 per node; Year 3 expansion to 300 clusters across Whitefield and </a:t>
            </a:r>
            <a:r>
              <a:rPr lang="en-US" sz="2000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Sarjapur</a:t>
            </a:r>
            <a:r>
              <a:rPr lang="en-US" sz="20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.</a:t>
            </a:r>
            <a:endParaRPr lang="en-US" sz="19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D2A0C5E-774C-47EC-8866-C681C2D3ECAC}"/>
              </a:ext>
            </a:extLst>
          </p:cNvPr>
          <p:cNvSpPr/>
          <p:nvPr/>
        </p:nvSpPr>
        <p:spPr>
          <a:xfrm>
            <a:off x="0" y="-28574"/>
            <a:ext cx="18288000" cy="1371600"/>
          </a:xfrm>
          <a:prstGeom prst="rect">
            <a:avLst/>
          </a:prstGeom>
          <a:solidFill>
            <a:srgbClr val="0B1D3F"/>
          </a:solidFill>
          <a:ln/>
        </p:spPr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A9E20C-FF05-4BD6-9AAB-A08CC06B376A}"/>
              </a:ext>
            </a:extLst>
          </p:cNvPr>
          <p:cNvSpPr txBox="1"/>
          <p:nvPr/>
        </p:nvSpPr>
        <p:spPr>
          <a:xfrm>
            <a:off x="557213" y="314326"/>
            <a:ext cx="624363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Proposition</a:t>
            </a:r>
            <a:endParaRPr lang="en-US" sz="4800" dirty="0">
              <a:solidFill>
                <a:schemeClr val="bg1"/>
              </a:solidFill>
            </a:endParaRPr>
          </a:p>
          <a:p>
            <a:endParaRPr lang="en-US" sz="4800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D00508A-FFF5-4947-BE18-43306E33A7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57424"/>
            <a:ext cx="7620000" cy="538198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784387A-CD65-4E3C-8FD2-960667CB3870}"/>
              </a:ext>
            </a:extLst>
          </p:cNvPr>
          <p:cNvSpPr txBox="1"/>
          <p:nvPr/>
        </p:nvSpPr>
        <p:spPr>
          <a:xfrm>
            <a:off x="8000999" y="1976321"/>
            <a:ext cx="9729789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Every unit traded gives you earn ₹0.42 platform fee</a:t>
            </a:r>
          </a:p>
          <a:p>
            <a:r>
              <a:rPr lang="en-US" sz="3600" dirty="0"/>
              <a:t>1 home trades 5 units/day</a:t>
            </a:r>
          </a:p>
          <a:p>
            <a:r>
              <a:rPr lang="en-US" sz="3600" dirty="0"/>
              <a:t>5 × ₹0.42 × 365 days = ₹766/year in fees alone</a:t>
            </a:r>
          </a:p>
          <a:p>
            <a:r>
              <a:rPr lang="en-US" sz="3600" dirty="0"/>
              <a:t>+ ₹2,161 hardware margin (one-time)</a:t>
            </a:r>
          </a:p>
          <a:p>
            <a:r>
              <a:rPr lang="en-US" sz="3600" dirty="0"/>
              <a:t>+ ₹2,650 subscription/year</a:t>
            </a:r>
          </a:p>
          <a:p>
            <a:r>
              <a:rPr lang="en-US" sz="3600" dirty="0"/>
              <a:t>+ ₹500 AMC/year</a:t>
            </a:r>
          </a:p>
          <a:p>
            <a:r>
              <a:rPr lang="en-US" sz="3600" dirty="0"/>
              <a:t>─────────────────────────────────</a:t>
            </a:r>
          </a:p>
          <a:p>
            <a:r>
              <a:rPr lang="en-US" sz="3600" dirty="0"/>
              <a:t>Year 1 earning per home  ₹6,077</a:t>
            </a:r>
            <a:br>
              <a:rPr lang="en-US" sz="3600" dirty="0"/>
            </a:br>
            <a:br>
              <a:rPr lang="en-US" sz="3600" dirty="0"/>
            </a:br>
            <a:r>
              <a:rPr lang="en-US" sz="3600" dirty="0"/>
              <a:t>₹4,338 cost ÷ ₹6,077 earned = under 9 months to break even</a:t>
            </a:r>
          </a:p>
          <a:p>
            <a:r>
              <a:rPr lang="en-US" sz="3600" dirty="0"/>
              <a:t>Every rupee after that is pure profit.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6D3811-1419-4D07-9BC1-403C74052741}"/>
              </a:ext>
            </a:extLst>
          </p:cNvPr>
          <p:cNvSpPr txBox="1"/>
          <p:nvPr/>
        </p:nvSpPr>
        <p:spPr>
          <a:xfrm>
            <a:off x="381000" y="1570372"/>
            <a:ext cx="6477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tx2"/>
                </a:solidFill>
                <a:latin typeface="Agrandir Bold" panose="020B0604020202020204" charset="0"/>
                <a:ea typeface="Calibri" pitchFamily="34" charset="-122"/>
                <a:cs typeface="Calibri" pitchFamily="34" charset="-120"/>
              </a:rPr>
              <a:t>Cost structure</a:t>
            </a:r>
            <a:endParaRPr lang="en-US" sz="3200" dirty="0">
              <a:solidFill>
                <a:schemeClr val="tx2"/>
              </a:solidFill>
              <a:latin typeface="Agrandir Bold" panose="020B0604020202020204" charset="0"/>
            </a:endParaRPr>
          </a:p>
          <a:p>
            <a:endParaRPr lang="en-US" sz="3200" dirty="0">
              <a:solidFill>
                <a:schemeClr val="tx2"/>
              </a:solidFill>
              <a:latin typeface="Agrandir Bold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1358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188720"/>
          </a:xfrm>
          <a:prstGeom prst="rect">
            <a:avLst/>
          </a:prstGeom>
          <a:solidFill>
            <a:srgbClr val="0B1D3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46304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ROADMAP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663440" y="1316736"/>
            <a:ext cx="721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384800" y="1316736"/>
            <a:ext cx="721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106160" y="1316736"/>
            <a:ext cx="721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27520" y="1316736"/>
            <a:ext cx="0" cy="8595360"/>
          </a:xfrm>
          <a:prstGeom prst="line">
            <a:avLst/>
          </a:prstGeom>
          <a:noFill/>
          <a:ln w="6350">
            <a:solidFill>
              <a:srgbClr val="D4DCE8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6827520" y="1316736"/>
            <a:ext cx="721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548880" y="1316736"/>
            <a:ext cx="721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70240" y="1316736"/>
            <a:ext cx="721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991600" y="1316736"/>
            <a:ext cx="0" cy="8595360"/>
          </a:xfrm>
          <a:prstGeom prst="line">
            <a:avLst/>
          </a:prstGeom>
          <a:noFill/>
          <a:ln w="6350">
            <a:solidFill>
              <a:srgbClr val="D4DCE8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8991600" y="1316736"/>
            <a:ext cx="721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712960" y="1316736"/>
            <a:ext cx="721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M8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434320" y="1316736"/>
            <a:ext cx="721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M9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1155680" y="1316736"/>
            <a:ext cx="0" cy="8595360"/>
          </a:xfrm>
          <a:prstGeom prst="line">
            <a:avLst/>
          </a:prstGeom>
          <a:noFill/>
          <a:ln w="6350">
            <a:solidFill>
              <a:srgbClr val="D4DCE8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1155680" y="1316736"/>
            <a:ext cx="721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M10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877040" y="1316736"/>
            <a:ext cx="721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M11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598400" y="1316736"/>
            <a:ext cx="721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M12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3319760" y="1316736"/>
            <a:ext cx="0" cy="8595360"/>
          </a:xfrm>
          <a:prstGeom prst="line">
            <a:avLst/>
          </a:prstGeom>
          <a:noFill/>
          <a:ln w="6350">
            <a:solidFill>
              <a:srgbClr val="D4DCE8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3319760" y="1316736"/>
            <a:ext cx="721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041120" y="1316736"/>
            <a:ext cx="721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4762480" y="1316736"/>
            <a:ext cx="721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M15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5483840" y="1316736"/>
            <a:ext cx="0" cy="8595360"/>
          </a:xfrm>
          <a:prstGeom prst="line">
            <a:avLst/>
          </a:prstGeom>
          <a:noFill/>
          <a:ln w="6350">
            <a:solidFill>
              <a:srgbClr val="D4DCE8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5483840" y="1316736"/>
            <a:ext cx="721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6205200" y="1316736"/>
            <a:ext cx="721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M17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6926560" y="1316736"/>
            <a:ext cx="721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M18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7647920" y="1316736"/>
            <a:ext cx="0" cy="8595360"/>
          </a:xfrm>
          <a:prstGeom prst="line">
            <a:avLst/>
          </a:prstGeom>
          <a:noFill/>
          <a:ln w="6350">
            <a:solidFill>
              <a:srgbClr val="D4DCE8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274320" y="1828800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kern="0" spc="300" dirty="0">
                <a:solidFill>
                  <a:srgbClr val="0B1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274320" y="2121408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and DPDP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274320" y="2432304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 · legal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663440" y="2157984"/>
            <a:ext cx="1369568" cy="438912"/>
          </a:xfrm>
          <a:prstGeom prst="rect">
            <a:avLst/>
          </a:prstGeom>
          <a:solidFill>
            <a:srgbClr val="378ADD"/>
          </a:solidFill>
          <a:ln/>
          <a:effectLst>
            <a:outerShdw blurRad="254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74320" y="2633472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RWA site and MoU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274320" y="2944368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BAF outreach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663440" y="2670048"/>
            <a:ext cx="2090928" cy="438912"/>
          </a:xfrm>
          <a:prstGeom prst="rect">
            <a:avLst/>
          </a:prstGeom>
          <a:solidFill>
            <a:srgbClr val="378ADD"/>
          </a:solidFill>
          <a:ln/>
          <a:effectLst>
            <a:outerShdw blurRad="254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274320" y="3218688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kern="0" spc="300" dirty="0">
                <a:solidFill>
                  <a:srgbClr val="0B1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274320" y="3511296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 and calibrate nodes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274320" y="3822192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· PZEM · relay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384800" y="3547872"/>
            <a:ext cx="3533648" cy="438912"/>
          </a:xfrm>
          <a:prstGeom prst="rect">
            <a:avLst/>
          </a:prstGeom>
          <a:solidFill>
            <a:srgbClr val="1D9E75"/>
          </a:solidFill>
          <a:ln/>
          <a:effectLst>
            <a:outerShdw blurRad="254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274320" y="4096512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kern="0" spc="300" dirty="0">
                <a:solidFill>
                  <a:srgbClr val="0B1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274320" y="4389120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engine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274320" y="4700016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· Demand · Governance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5384800" y="4425696"/>
            <a:ext cx="4255008" cy="438912"/>
          </a:xfrm>
          <a:prstGeom prst="rect">
            <a:avLst/>
          </a:prstGeom>
          <a:solidFill>
            <a:srgbClr val="7F77DD"/>
          </a:solidFill>
          <a:ln/>
          <a:effectLst>
            <a:outerShdw blurRad="254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274320" y="4901184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OPF and SAI pipeline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274320" y="5212080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33-bus · Sentinel-2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106160" y="4937760"/>
            <a:ext cx="2812288" cy="438912"/>
          </a:xfrm>
          <a:prstGeom prst="rect">
            <a:avLst/>
          </a:prstGeom>
          <a:solidFill>
            <a:srgbClr val="7F77DD"/>
          </a:solidFill>
          <a:ln/>
          <a:effectLst>
            <a:outerShdw blurRad="254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274320" y="5413248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learning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274320" y="5724144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Flower framework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6827520" y="5449824"/>
            <a:ext cx="3533648" cy="438912"/>
          </a:xfrm>
          <a:prstGeom prst="rect">
            <a:avLst/>
          </a:prstGeom>
          <a:solidFill>
            <a:srgbClr val="7F77DD"/>
          </a:solidFill>
          <a:ln/>
          <a:effectLst>
            <a:outerShdw blurRad="254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274320" y="5925312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blockchain and LLM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274320" y="6236208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Hash-chain · Mistral 7B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7548880" y="5961888"/>
            <a:ext cx="3533648" cy="438912"/>
          </a:xfrm>
          <a:prstGeom prst="rect">
            <a:avLst/>
          </a:prstGeom>
          <a:solidFill>
            <a:srgbClr val="7F77DD"/>
          </a:solidFill>
          <a:ln/>
          <a:effectLst>
            <a:outerShdw blurRad="254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274320" y="6437376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274320" y="6748272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LAN-only · WhatsApp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8991600" y="6473952"/>
            <a:ext cx="2812288" cy="438912"/>
          </a:xfrm>
          <a:prstGeom prst="rect">
            <a:avLst/>
          </a:prstGeom>
          <a:solidFill>
            <a:srgbClr val="7F77DD"/>
          </a:solidFill>
          <a:ln/>
          <a:effectLst>
            <a:outerShdw blurRad="254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274320" y="7022592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kern="0" spc="300" dirty="0">
                <a:solidFill>
                  <a:srgbClr val="C9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</a:t>
            </a:r>
            <a:r>
              <a:rPr lang="en-US" sz="1400" b="1" kern="0" spc="300" dirty="0">
                <a:solidFill>
                  <a:srgbClr val="C9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2000" b="1" kern="0" spc="300" dirty="0">
                <a:solidFill>
                  <a:srgbClr val="C9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BLOCKERS</a:t>
            </a:r>
            <a:endParaRPr lang="en-US" sz="2000" dirty="0"/>
          </a:p>
        </p:txBody>
      </p:sp>
      <p:sp>
        <p:nvSpPr>
          <p:cNvPr id="57" name="Text 55"/>
          <p:cNvSpPr/>
          <p:nvPr/>
        </p:nvSpPr>
        <p:spPr>
          <a:xfrm>
            <a:off x="274320" y="7315200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BESCOM empanelment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274320" y="7626096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SLA · est. M3–M7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4663440" y="7351776"/>
            <a:ext cx="4976368" cy="438912"/>
          </a:xfrm>
          <a:prstGeom prst="rect">
            <a:avLst/>
          </a:prstGeom>
          <a:solidFill>
            <a:srgbClr val="C93030"/>
          </a:solidFill>
          <a:ln/>
          <a:effectLst>
            <a:outerShdw blurRad="254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274320" y="7827264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meter install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274320" y="8138160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60–120 days/node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6106160" y="7863840"/>
            <a:ext cx="4976368" cy="438912"/>
          </a:xfrm>
          <a:prstGeom prst="rect">
            <a:avLst/>
          </a:prstGeom>
          <a:solidFill>
            <a:srgbClr val="C93030"/>
          </a:solidFill>
          <a:ln/>
          <a:effectLst>
            <a:outerShdw blurRad="254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274320" y="8339328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DISCOM billing API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274320" y="8650224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IT · M8–M12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9712960" y="8375904"/>
            <a:ext cx="3533648" cy="438912"/>
          </a:xfrm>
          <a:prstGeom prst="rect">
            <a:avLst/>
          </a:prstGeom>
          <a:solidFill>
            <a:srgbClr val="BA7517"/>
          </a:solidFill>
          <a:ln/>
          <a:effectLst>
            <a:outerShdw blurRad="254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274320" y="8924544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kern="0" spc="300" dirty="0">
                <a:solidFill>
                  <a:srgbClr val="0B1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and TESTING</a:t>
            </a:r>
            <a:endParaRPr lang="en-US" sz="2000" dirty="0"/>
          </a:p>
        </p:txBody>
      </p:sp>
      <p:sp>
        <p:nvSpPr>
          <p:cNvPr id="67" name="Text 65"/>
          <p:cNvSpPr/>
          <p:nvPr/>
        </p:nvSpPr>
        <p:spPr>
          <a:xfrm>
            <a:off x="274320" y="9217152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simulation and audit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274320" y="9528048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15-node · DPDP check</a:t>
            </a:r>
            <a:endParaRPr lang="en-US" sz="1300" dirty="0"/>
          </a:p>
        </p:txBody>
      </p:sp>
      <p:sp>
        <p:nvSpPr>
          <p:cNvPr id="69" name="Shape 67"/>
          <p:cNvSpPr/>
          <p:nvPr/>
        </p:nvSpPr>
        <p:spPr>
          <a:xfrm>
            <a:off x="11155680" y="9253728"/>
            <a:ext cx="2812288" cy="438912"/>
          </a:xfrm>
          <a:prstGeom prst="rect">
            <a:avLst/>
          </a:prstGeom>
          <a:solidFill>
            <a:srgbClr val="D4537E"/>
          </a:solidFill>
          <a:ln/>
          <a:effectLst>
            <a:outerShdw blurRad="254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0" name="Text 68"/>
          <p:cNvSpPr/>
          <p:nvPr/>
        </p:nvSpPr>
        <p:spPr>
          <a:xfrm>
            <a:off x="274320" y="9729216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pilot · 5 prosumers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274320" y="10040112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trades · Whitefield RWA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13319760" y="9823798"/>
            <a:ext cx="2812288" cy="438912"/>
          </a:xfrm>
          <a:prstGeom prst="rect">
            <a:avLst/>
          </a:prstGeom>
          <a:solidFill>
            <a:srgbClr val="1E7A4E"/>
          </a:solidFill>
          <a:ln/>
          <a:effectLst>
            <a:outerShdw blurRad="254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5" name="Shape 73"/>
          <p:cNvSpPr/>
          <p:nvPr/>
        </p:nvSpPr>
        <p:spPr>
          <a:xfrm>
            <a:off x="14694408" y="2149412"/>
            <a:ext cx="329184" cy="219456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76" name="Text 74"/>
          <p:cNvSpPr/>
          <p:nvPr/>
        </p:nvSpPr>
        <p:spPr>
          <a:xfrm>
            <a:off x="15199360" y="212198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dirty="0"/>
          </a:p>
        </p:txBody>
      </p:sp>
      <p:sp>
        <p:nvSpPr>
          <p:cNvPr id="77" name="Shape 75"/>
          <p:cNvSpPr/>
          <p:nvPr/>
        </p:nvSpPr>
        <p:spPr>
          <a:xfrm>
            <a:off x="14698600" y="3569588"/>
            <a:ext cx="329184" cy="219456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78" name="Text 76"/>
          <p:cNvSpPr/>
          <p:nvPr/>
        </p:nvSpPr>
        <p:spPr>
          <a:xfrm>
            <a:off x="15145892" y="360273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dirty="0"/>
          </a:p>
        </p:txBody>
      </p:sp>
      <p:sp>
        <p:nvSpPr>
          <p:cNvPr id="79" name="Shape 77"/>
          <p:cNvSpPr/>
          <p:nvPr/>
        </p:nvSpPr>
        <p:spPr>
          <a:xfrm>
            <a:off x="14694408" y="4828032"/>
            <a:ext cx="329184" cy="219456"/>
          </a:xfrm>
          <a:prstGeom prst="rect">
            <a:avLst/>
          </a:prstGeom>
          <a:solidFill>
            <a:srgbClr val="7F77DD"/>
          </a:solidFill>
          <a:ln/>
        </p:spPr>
      </p:sp>
      <p:sp>
        <p:nvSpPr>
          <p:cNvPr id="80" name="Text 78"/>
          <p:cNvSpPr/>
          <p:nvPr/>
        </p:nvSpPr>
        <p:spPr>
          <a:xfrm>
            <a:off x="15159226" y="48274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dirty="0"/>
          </a:p>
        </p:txBody>
      </p:sp>
      <p:sp>
        <p:nvSpPr>
          <p:cNvPr id="81" name="Shape 79"/>
          <p:cNvSpPr/>
          <p:nvPr/>
        </p:nvSpPr>
        <p:spPr>
          <a:xfrm>
            <a:off x="14698600" y="7396924"/>
            <a:ext cx="329184" cy="219456"/>
          </a:xfrm>
          <a:prstGeom prst="rect">
            <a:avLst/>
          </a:prstGeom>
          <a:solidFill>
            <a:srgbClr val="C93030"/>
          </a:solidFill>
          <a:ln/>
        </p:spPr>
      </p:sp>
      <p:sp>
        <p:nvSpPr>
          <p:cNvPr id="82" name="Text 80"/>
          <p:cNvSpPr/>
          <p:nvPr/>
        </p:nvSpPr>
        <p:spPr>
          <a:xfrm>
            <a:off x="15226284" y="736977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</a:t>
            </a: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blocker</a:t>
            </a:r>
            <a:endParaRPr lang="en-US" sz="1400" dirty="0"/>
          </a:p>
        </p:txBody>
      </p:sp>
      <p:sp>
        <p:nvSpPr>
          <p:cNvPr id="83" name="Shape 81"/>
          <p:cNvSpPr/>
          <p:nvPr/>
        </p:nvSpPr>
        <p:spPr>
          <a:xfrm>
            <a:off x="14729332" y="8429054"/>
            <a:ext cx="329184" cy="219456"/>
          </a:xfrm>
          <a:prstGeom prst="rect">
            <a:avLst/>
          </a:prstGeom>
          <a:solidFill>
            <a:srgbClr val="BA7517"/>
          </a:solidFill>
          <a:ln/>
        </p:spPr>
      </p:sp>
      <p:sp>
        <p:nvSpPr>
          <p:cNvPr id="84" name="Text 82"/>
          <p:cNvSpPr/>
          <p:nvPr/>
        </p:nvSpPr>
        <p:spPr>
          <a:xfrm>
            <a:off x="15275560" y="836661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dirty="0"/>
          </a:p>
        </p:txBody>
      </p:sp>
      <p:sp>
        <p:nvSpPr>
          <p:cNvPr id="85" name="Shape 83"/>
          <p:cNvSpPr/>
          <p:nvPr/>
        </p:nvSpPr>
        <p:spPr>
          <a:xfrm>
            <a:off x="14756636" y="9308592"/>
            <a:ext cx="329184" cy="219456"/>
          </a:xfrm>
          <a:prstGeom prst="rect">
            <a:avLst/>
          </a:prstGeom>
          <a:solidFill>
            <a:srgbClr val="D4537E"/>
          </a:solidFill>
          <a:ln/>
        </p:spPr>
      </p:sp>
      <p:sp>
        <p:nvSpPr>
          <p:cNvPr id="86" name="Text 84"/>
          <p:cNvSpPr/>
          <p:nvPr/>
        </p:nvSpPr>
        <p:spPr>
          <a:xfrm>
            <a:off x="15289658" y="916485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dirty="0"/>
          </a:p>
        </p:txBody>
      </p:sp>
      <p:sp>
        <p:nvSpPr>
          <p:cNvPr id="87" name="Shape 85"/>
          <p:cNvSpPr/>
          <p:nvPr/>
        </p:nvSpPr>
        <p:spPr>
          <a:xfrm>
            <a:off x="17006314" y="10022966"/>
            <a:ext cx="329184" cy="219456"/>
          </a:xfrm>
          <a:prstGeom prst="rect">
            <a:avLst/>
          </a:prstGeom>
          <a:solidFill>
            <a:srgbClr val="1E7A4E"/>
          </a:solidFill>
          <a:ln/>
        </p:spPr>
      </p:sp>
      <p:sp>
        <p:nvSpPr>
          <p:cNvPr id="88" name="Text 86"/>
          <p:cNvSpPr/>
          <p:nvPr/>
        </p:nvSpPr>
        <p:spPr>
          <a:xfrm>
            <a:off x="17335498" y="99829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pilot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4">
            <a:extLst>
              <a:ext uri="{FF2B5EF4-FFF2-40B4-BE49-F238E27FC236}">
                <a16:creationId xmlns:a16="http://schemas.microsoft.com/office/drawing/2014/main" id="{72DFCEBF-8E37-4A65-A394-A946A2F2BF0F}"/>
              </a:ext>
            </a:extLst>
          </p:cNvPr>
          <p:cNvSpPr/>
          <p:nvPr/>
        </p:nvSpPr>
        <p:spPr>
          <a:xfrm rot="10800000" flipH="1">
            <a:off x="-3124200" y="-1485900"/>
            <a:ext cx="4878221" cy="4731019"/>
          </a:xfrm>
          <a:custGeom>
            <a:avLst/>
            <a:gdLst/>
            <a:ahLst/>
            <a:cxnLst/>
            <a:rect l="l" t="t" r="r" b="b"/>
            <a:pathLst>
              <a:path w="4878221" h="4731019">
                <a:moveTo>
                  <a:pt x="4878222" y="0"/>
                </a:moveTo>
                <a:lnTo>
                  <a:pt x="0" y="0"/>
                </a:lnTo>
                <a:lnTo>
                  <a:pt x="0" y="4731019"/>
                </a:lnTo>
                <a:lnTo>
                  <a:pt x="4878222" y="4731019"/>
                </a:lnTo>
                <a:lnTo>
                  <a:pt x="487822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2B792A-C3B3-47A2-A4BA-27918427CC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2405062"/>
            <a:ext cx="12954000" cy="54768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3D70AEA-C15B-4EDF-B47A-ED1AF1B07577}"/>
              </a:ext>
            </a:extLst>
          </p:cNvPr>
          <p:cNvSpPr txBox="1"/>
          <p:nvPr/>
        </p:nvSpPr>
        <p:spPr>
          <a:xfrm>
            <a:off x="2273602" y="8011209"/>
            <a:ext cx="107427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hlinkClick r:id="rId5"/>
              </a:rPr>
              <a:t>https://energy.economictimes.indiatimes.com/news/renewable/up-farmer-sells-solar-power-in-live-p2p-energy-trading-demo-at-india-ai-summit/128593177</a:t>
            </a:r>
            <a:endParaRPr lang="en-US" sz="1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F76F0C-9F5B-45A9-B9BF-83CB6DF77EC4}"/>
              </a:ext>
            </a:extLst>
          </p:cNvPr>
          <p:cNvSpPr txBox="1"/>
          <p:nvPr/>
        </p:nvSpPr>
        <p:spPr>
          <a:xfrm>
            <a:off x="2200244" y="816932"/>
            <a:ext cx="1113759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chemeClr val="tx2"/>
                </a:solidFill>
                <a:latin typeface="Agrandir Bold" panose="020B0604020202020204" charset="0"/>
              </a:rPr>
              <a:t>Existing Technologies in India</a:t>
            </a:r>
          </a:p>
        </p:txBody>
      </p:sp>
    </p:spTree>
    <p:extLst>
      <p:ext uri="{BB962C8B-B14F-4D97-AF65-F5344CB8AC3E}">
        <p14:creationId xmlns:p14="http://schemas.microsoft.com/office/powerpoint/2010/main" val="26090788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382792" y="1445937"/>
            <a:ext cx="7104608" cy="14345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754"/>
              </a:lnSpc>
              <a:spcBef>
                <a:spcPct val="0"/>
              </a:spcBef>
            </a:pPr>
            <a:r>
              <a:rPr lang="en-US" sz="8396" b="1" dirty="0">
                <a:solidFill>
                  <a:srgbClr val="2A5098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Conclusion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95825" y="4130176"/>
            <a:ext cx="17133124" cy="37651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502"/>
              </a:lnSpc>
              <a:spcBef>
                <a:spcPct val="0"/>
              </a:spcBef>
            </a:pPr>
            <a:r>
              <a:rPr lang="en-US" sz="4400" dirty="0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 </a:t>
            </a:r>
            <a:r>
              <a:rPr lang="en-US" sz="4400" dirty="0" err="1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Miragex</a:t>
            </a:r>
            <a:r>
              <a:rPr lang="en-US" sz="4400" dirty="0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isn't just a software project; it's a solution to India's ₹6,000 Crore solar wastage problem. By combining Agentic AI with Edge Privacy, we are creating a self-healing, profitable energy network for a sustainable future.</a:t>
            </a:r>
          </a:p>
        </p:txBody>
      </p:sp>
      <p:sp>
        <p:nvSpPr>
          <p:cNvPr id="4" name="Freeform 4"/>
          <p:cNvSpPr/>
          <p:nvPr/>
        </p:nvSpPr>
        <p:spPr>
          <a:xfrm rot="-10800000" flipH="1">
            <a:off x="-2286000" y="-919573"/>
            <a:ext cx="4878221" cy="4731019"/>
          </a:xfrm>
          <a:custGeom>
            <a:avLst/>
            <a:gdLst/>
            <a:ahLst/>
            <a:cxnLst/>
            <a:rect l="l" t="t" r="r" b="b"/>
            <a:pathLst>
              <a:path w="4878221" h="4731019">
                <a:moveTo>
                  <a:pt x="4878222" y="0"/>
                </a:moveTo>
                <a:lnTo>
                  <a:pt x="0" y="0"/>
                </a:lnTo>
                <a:lnTo>
                  <a:pt x="0" y="4731019"/>
                </a:lnTo>
                <a:lnTo>
                  <a:pt x="4878222" y="4731019"/>
                </a:lnTo>
                <a:lnTo>
                  <a:pt x="4878222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444" b="-8444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15264" y="0"/>
                  </a:moveTo>
                  <a:lnTo>
                    <a:pt x="4259462" y="0"/>
                  </a:lnTo>
                  <a:cubicBezTo>
                    <a:pt x="4263510" y="0"/>
                    <a:pt x="4267393" y="1608"/>
                    <a:pt x="4270255" y="4471"/>
                  </a:cubicBezTo>
                  <a:cubicBezTo>
                    <a:pt x="4273118" y="7333"/>
                    <a:pt x="4274726" y="11216"/>
                    <a:pt x="4274726" y="15264"/>
                  </a:cubicBezTo>
                  <a:lnTo>
                    <a:pt x="4274726" y="2152203"/>
                  </a:lnTo>
                  <a:cubicBezTo>
                    <a:pt x="4274726" y="2156251"/>
                    <a:pt x="4273118" y="2160133"/>
                    <a:pt x="4270255" y="2162996"/>
                  </a:cubicBezTo>
                  <a:cubicBezTo>
                    <a:pt x="4267393" y="2165858"/>
                    <a:pt x="4263510" y="2167467"/>
                    <a:pt x="4259462" y="2167467"/>
                  </a:cubicBezTo>
                  <a:lnTo>
                    <a:pt x="15264" y="2167467"/>
                  </a:lnTo>
                  <a:cubicBezTo>
                    <a:pt x="11216" y="2167467"/>
                    <a:pt x="7333" y="2165858"/>
                    <a:pt x="4471" y="2162996"/>
                  </a:cubicBezTo>
                  <a:cubicBezTo>
                    <a:pt x="1608" y="2160133"/>
                    <a:pt x="0" y="2156251"/>
                    <a:pt x="0" y="2152203"/>
                  </a:cubicBezTo>
                  <a:lnTo>
                    <a:pt x="0" y="15264"/>
                  </a:lnTo>
                  <a:cubicBezTo>
                    <a:pt x="0" y="11216"/>
                    <a:pt x="1608" y="7333"/>
                    <a:pt x="4471" y="4471"/>
                  </a:cubicBezTo>
                  <a:cubicBezTo>
                    <a:pt x="7333" y="1608"/>
                    <a:pt x="11216" y="0"/>
                    <a:pt x="1526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85725"/>
              <a:ext cx="4274726" cy="22531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018856" y="1515034"/>
            <a:ext cx="7129738" cy="7256931"/>
            <a:chOff x="0" y="0"/>
            <a:chExt cx="887636" cy="90347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87636" cy="903471"/>
            </a:xfrm>
            <a:custGeom>
              <a:avLst/>
              <a:gdLst/>
              <a:ahLst/>
              <a:cxnLst/>
              <a:rect l="l" t="t" r="r" b="b"/>
              <a:pathLst>
                <a:path w="887636" h="903471">
                  <a:moveTo>
                    <a:pt x="56465" y="0"/>
                  </a:moveTo>
                  <a:lnTo>
                    <a:pt x="831171" y="0"/>
                  </a:lnTo>
                  <a:cubicBezTo>
                    <a:pt x="862356" y="0"/>
                    <a:pt x="887636" y="25280"/>
                    <a:pt x="887636" y="56465"/>
                  </a:cubicBezTo>
                  <a:lnTo>
                    <a:pt x="887636" y="847007"/>
                  </a:lnTo>
                  <a:cubicBezTo>
                    <a:pt x="887636" y="878191"/>
                    <a:pt x="862356" y="903471"/>
                    <a:pt x="831171" y="903471"/>
                  </a:cubicBezTo>
                  <a:lnTo>
                    <a:pt x="56465" y="903471"/>
                  </a:lnTo>
                  <a:cubicBezTo>
                    <a:pt x="25280" y="903471"/>
                    <a:pt x="0" y="878191"/>
                    <a:pt x="0" y="847007"/>
                  </a:cubicBezTo>
                  <a:lnTo>
                    <a:pt x="0" y="56465"/>
                  </a:lnTo>
                  <a:cubicBezTo>
                    <a:pt x="0" y="25280"/>
                    <a:pt x="25280" y="0"/>
                    <a:pt x="56465" y="0"/>
                  </a:cubicBezTo>
                  <a:close/>
                </a:path>
              </a:pathLst>
            </a:custGeom>
            <a:blipFill>
              <a:blip r:embed="rId3"/>
              <a:stretch>
                <a:fillRect l="-26314" r="-26314"/>
              </a:stretch>
            </a:blipFill>
            <a:ln cap="rnd">
              <a:noFill/>
              <a:prstDash val="solid"/>
              <a:round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2095331" y="6239097"/>
            <a:ext cx="2225471" cy="651714"/>
            <a:chOff x="0" y="0"/>
            <a:chExt cx="586132" cy="17164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86132" cy="171645"/>
            </a:xfrm>
            <a:custGeom>
              <a:avLst/>
              <a:gdLst/>
              <a:ahLst/>
              <a:cxnLst/>
              <a:rect l="l" t="t" r="r" b="b"/>
              <a:pathLst>
                <a:path w="586132" h="171645">
                  <a:moveTo>
                    <a:pt x="85822" y="0"/>
                  </a:moveTo>
                  <a:lnTo>
                    <a:pt x="500310" y="0"/>
                  </a:lnTo>
                  <a:cubicBezTo>
                    <a:pt x="547708" y="0"/>
                    <a:pt x="586132" y="38424"/>
                    <a:pt x="586132" y="85822"/>
                  </a:cubicBezTo>
                  <a:lnTo>
                    <a:pt x="586132" y="85822"/>
                  </a:lnTo>
                  <a:cubicBezTo>
                    <a:pt x="586132" y="133221"/>
                    <a:pt x="547708" y="171645"/>
                    <a:pt x="500310" y="171645"/>
                  </a:cubicBezTo>
                  <a:lnTo>
                    <a:pt x="85822" y="171645"/>
                  </a:lnTo>
                  <a:cubicBezTo>
                    <a:pt x="38424" y="171645"/>
                    <a:pt x="0" y="133221"/>
                    <a:pt x="0" y="85822"/>
                  </a:cubicBezTo>
                  <a:lnTo>
                    <a:pt x="0" y="85822"/>
                  </a:lnTo>
                  <a:cubicBezTo>
                    <a:pt x="0" y="38424"/>
                    <a:pt x="38424" y="0"/>
                    <a:pt x="85822" y="0"/>
                  </a:cubicBezTo>
                  <a:close/>
                </a:path>
              </a:pathLst>
            </a:custGeom>
            <a:solidFill>
              <a:srgbClr val="3194DA"/>
            </a:solidFill>
            <a:ln cap="rnd">
              <a:noFill/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9525"/>
              <a:ext cx="586132" cy="1621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8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737102" y="7218104"/>
            <a:ext cx="358229" cy="358229"/>
          </a:xfrm>
          <a:custGeom>
            <a:avLst/>
            <a:gdLst/>
            <a:ahLst/>
            <a:cxnLst/>
            <a:rect l="l" t="t" r="r" b="b"/>
            <a:pathLst>
              <a:path w="358229" h="358229">
                <a:moveTo>
                  <a:pt x="0" y="0"/>
                </a:moveTo>
                <a:lnTo>
                  <a:pt x="358229" y="0"/>
                </a:lnTo>
                <a:lnTo>
                  <a:pt x="358229" y="358229"/>
                </a:lnTo>
                <a:lnTo>
                  <a:pt x="0" y="3582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2" name="Freeform 12"/>
          <p:cNvSpPr/>
          <p:nvPr/>
        </p:nvSpPr>
        <p:spPr>
          <a:xfrm>
            <a:off x="1737102" y="7867514"/>
            <a:ext cx="358229" cy="358229"/>
          </a:xfrm>
          <a:custGeom>
            <a:avLst/>
            <a:gdLst/>
            <a:ahLst/>
            <a:cxnLst/>
            <a:rect l="l" t="t" r="r" b="b"/>
            <a:pathLst>
              <a:path w="358229" h="358229">
                <a:moveTo>
                  <a:pt x="0" y="0"/>
                </a:moveTo>
                <a:lnTo>
                  <a:pt x="358229" y="0"/>
                </a:lnTo>
                <a:lnTo>
                  <a:pt x="358229" y="358229"/>
                </a:lnTo>
                <a:lnTo>
                  <a:pt x="0" y="3582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3" name="TextBox 13"/>
          <p:cNvSpPr txBox="1"/>
          <p:nvPr/>
        </p:nvSpPr>
        <p:spPr>
          <a:xfrm>
            <a:off x="2251485" y="7688423"/>
            <a:ext cx="4851420" cy="457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750"/>
              </a:lnSpc>
              <a:spcBef>
                <a:spcPct val="0"/>
              </a:spcBef>
            </a:pPr>
            <a:r>
              <a:rPr lang="en-US" sz="2678">
                <a:solidFill>
                  <a:srgbClr val="2A509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abhirajbambhore@gmail.com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251485" y="7100322"/>
            <a:ext cx="2919225" cy="476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22"/>
              </a:lnSpc>
              <a:spcBef>
                <a:spcPct val="0"/>
              </a:spcBef>
            </a:pPr>
            <a:r>
              <a:rPr lang="en-US" sz="2802">
                <a:solidFill>
                  <a:srgbClr val="2A509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+91 9611941155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251485" y="6380487"/>
            <a:ext cx="1913162" cy="378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89"/>
              </a:lnSpc>
            </a:pPr>
            <a:r>
              <a:rPr lang="en-US" sz="2599" b="1" spc="-64">
                <a:solidFill>
                  <a:srgbClr val="FFFFF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Contact Us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095331" y="3086322"/>
            <a:ext cx="5786930" cy="2647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9599"/>
              </a:lnSpc>
              <a:spcBef>
                <a:spcPct val="0"/>
              </a:spcBef>
            </a:pPr>
            <a:r>
              <a:rPr lang="en-US" sz="7999" b="1" u="none" strike="noStrike">
                <a:solidFill>
                  <a:srgbClr val="2A5098"/>
                </a:solidFill>
                <a:latin typeface="Agrandir Bold"/>
                <a:ea typeface="Agrandir Bold"/>
                <a:cs typeface="Agrandir Bold"/>
                <a:sym typeface="Agrandir Bold"/>
              </a:rPr>
              <a:t>Thank You</a:t>
            </a:r>
          </a:p>
          <a:p>
            <a:pPr marL="0" lvl="0" indent="0" algn="just">
              <a:lnSpc>
                <a:spcPts val="9599"/>
              </a:lnSpc>
              <a:spcBef>
                <a:spcPct val="0"/>
              </a:spcBef>
            </a:pPr>
            <a:r>
              <a:rPr lang="en-US" sz="7999" b="1" u="none" strike="noStrike">
                <a:solidFill>
                  <a:srgbClr val="2A5098"/>
                </a:solidFill>
                <a:latin typeface="Agrandir Bold"/>
                <a:ea typeface="Agrandir Bold"/>
                <a:cs typeface="Agrandir Bold"/>
                <a:sym typeface="Agrandir Bold"/>
              </a:rPr>
              <a:t>Very Much!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095331" y="2033746"/>
            <a:ext cx="4168443" cy="497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57"/>
              </a:lnSpc>
              <a:spcBef>
                <a:spcPct val="0"/>
              </a:spcBef>
            </a:pPr>
            <a:r>
              <a:rPr lang="en-US" sz="2898" b="1" spc="-57">
                <a:solidFill>
                  <a:srgbClr val="2A5098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Abhiraj Bambhore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1088</Words>
  <Application>Microsoft Office PowerPoint</Application>
  <PresentationFormat>Custom</PresentationFormat>
  <Paragraphs>182</Paragraphs>
  <Slides>16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Calibri</vt:lpstr>
      <vt:lpstr>Arial</vt:lpstr>
      <vt:lpstr>Atkinson Hyperlegible Bold</vt:lpstr>
      <vt:lpstr>Agrandir Bold Italics</vt:lpstr>
      <vt:lpstr>Microsoft JhengHei UI</vt:lpstr>
      <vt:lpstr>Atkinson Hyperlegible</vt:lpstr>
      <vt:lpstr>Agrandir</vt:lpstr>
      <vt:lpstr>Agrandir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White Modern Solar Power Pitch Deck Presentation</dc:title>
  <dc:creator>Lenovo</dc:creator>
  <cp:lastModifiedBy>abhirajbambhore@gmail.com</cp:lastModifiedBy>
  <cp:revision>6</cp:revision>
  <dcterms:created xsi:type="dcterms:W3CDTF">2006-08-16T00:00:00Z</dcterms:created>
  <dcterms:modified xsi:type="dcterms:W3CDTF">2026-05-21T10:26:33Z</dcterms:modified>
  <dc:identifier>DAHClI2iCEM</dc:identifier>
</cp:coreProperties>
</file>